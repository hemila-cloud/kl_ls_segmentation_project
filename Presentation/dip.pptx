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7" r:id="rId2"/>
    <p:sldId id="265" r:id="rId3"/>
    <p:sldId id="258" r:id="rId4"/>
    <p:sldId id="259" r:id="rId5"/>
    <p:sldId id="260" r:id="rId6"/>
    <p:sldId id="261" r:id="rId7"/>
    <p:sldId id="262" r:id="rId8"/>
    <p:sldId id="263" r:id="rId9"/>
    <p:sldId id="264" r:id="rId10"/>
  </p:sldIdLst>
  <p:sldSz cx="18288000" cy="10287000"/>
  <p:notesSz cx="6858000" cy="9144000"/>
  <p:embeddedFontLst>
    <p:embeddedFont>
      <p:font typeface="DM Sans" pitchFamily="2" charset="0"/>
      <p:regular r:id="rId11"/>
      <p:bold r:id="rId12"/>
    </p:embeddedFont>
    <p:embeddedFont>
      <p:font typeface="DM Sans Bold" charset="0"/>
      <p:regular r:id="rId13"/>
      <p:bold r:id="rId14"/>
    </p:embeddedFont>
    <p:embeddedFont>
      <p:font typeface="Roboto" panose="02000000000000000000" pitchFamily="2" charset="0"/>
      <p:regular r:id="rId15"/>
    </p:embeddedFont>
    <p:embeddedFont>
      <p:font typeface="Roboto Bold" panose="02000000000000000000" charset="0"/>
      <p:regular r:id="rId16"/>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45" d="100"/>
          <a:sy n="45" d="100"/>
        </p:scale>
        <p:origin x="960" y="48"/>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3.fntdata"/><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font" Target="fonts/font2.fntdata"/><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font" Target="fonts/font6.fntdata"/><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font" Target="fonts/font1.fntdata"/><Relationship Id="rId5" Type="http://schemas.openxmlformats.org/officeDocument/2006/relationships/slide" Target="slides/slide4.xml"/><Relationship Id="rId15" Type="http://schemas.openxmlformats.org/officeDocument/2006/relationships/font" Target="fonts/font5.fntdata"/><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4.fntdata"/></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11/13/2025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11/13/2025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11/13/2025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11/13/2025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11/13/2025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11/13/2025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11/13/2025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11/13/2025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11/13/2025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11/13/2025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11/13/2025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11/13/2025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svg"/><Relationship Id="rId7" Type="http://schemas.openxmlformats.org/officeDocument/2006/relationships/image" Target="../media/image6.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sv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4.sv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Layout" Target="../slideLayouts/slideLayout7.xml"/><Relationship Id="rId5" Type="http://schemas.openxmlformats.org/officeDocument/2006/relationships/image" Target="../media/image4.svg"/><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Layout" Target="../slideLayouts/slideLayout7.xml"/><Relationship Id="rId6" Type="http://schemas.openxmlformats.org/officeDocument/2006/relationships/image" Target="../media/image7.png"/><Relationship Id="rId5" Type="http://schemas.openxmlformats.org/officeDocument/2006/relationships/image" Target="../media/image4.svg"/><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Layout" Target="../slideLayouts/slideLayout7.xml"/><Relationship Id="rId5" Type="http://schemas.openxmlformats.org/officeDocument/2006/relationships/image" Target="../media/image4.svg"/><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8" Type="http://schemas.openxmlformats.org/officeDocument/2006/relationships/image" Target="../media/image10.png"/><Relationship Id="rId13" Type="http://schemas.openxmlformats.org/officeDocument/2006/relationships/image" Target="../media/image15.svg"/><Relationship Id="rId3" Type="http://schemas.openxmlformats.org/officeDocument/2006/relationships/image" Target="../media/image6.svg"/><Relationship Id="rId7" Type="http://schemas.openxmlformats.org/officeDocument/2006/relationships/image" Target="../media/image9.png"/><Relationship Id="rId12" Type="http://schemas.openxmlformats.org/officeDocument/2006/relationships/image" Target="../media/image14.png"/><Relationship Id="rId2" Type="http://schemas.openxmlformats.org/officeDocument/2006/relationships/image" Target="../media/image5.png"/><Relationship Id="rId1" Type="http://schemas.openxmlformats.org/officeDocument/2006/relationships/slideLayout" Target="../slideLayouts/slideLayout7.xml"/><Relationship Id="rId6" Type="http://schemas.openxmlformats.org/officeDocument/2006/relationships/image" Target="../media/image8.png"/><Relationship Id="rId11" Type="http://schemas.openxmlformats.org/officeDocument/2006/relationships/image" Target="../media/image13.png"/><Relationship Id="rId5" Type="http://schemas.openxmlformats.org/officeDocument/2006/relationships/image" Target="../media/image4.svg"/><Relationship Id="rId10" Type="http://schemas.openxmlformats.org/officeDocument/2006/relationships/image" Target="../media/image12.png"/><Relationship Id="rId4" Type="http://schemas.openxmlformats.org/officeDocument/2006/relationships/image" Target="../media/image3.png"/><Relationship Id="rId9" Type="http://schemas.openxmlformats.org/officeDocument/2006/relationships/image" Target="../media/image11.png"/></Relationships>
</file>

<file path=ppt/slides/_rels/slide7.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Layout" Target="../slideLayouts/slideLayout7.xml"/><Relationship Id="rId5" Type="http://schemas.openxmlformats.org/officeDocument/2006/relationships/image" Target="../media/image4.svg"/><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Layout" Target="../slideLayouts/slideLayout7.xml"/><Relationship Id="rId5" Type="http://schemas.openxmlformats.org/officeDocument/2006/relationships/image" Target="../media/image4.svg"/><Relationship Id="rId4" Type="http://schemas.openxmlformats.org/officeDocument/2006/relationships/image" Target="../media/image3.png"/></Relationships>
</file>

<file path=ppt/slides/_rels/slide9.xml.rels><?xml version="1.0" encoding="UTF-8" standalone="yes"?>
<Relationships xmlns="http://schemas.openxmlformats.org/package/2006/relationships"><Relationship Id="rId8" Type="http://schemas.openxmlformats.org/officeDocument/2006/relationships/image" Target="../media/image22.png"/><Relationship Id="rId13" Type="http://schemas.openxmlformats.org/officeDocument/2006/relationships/image" Target="../media/image27.svg"/><Relationship Id="rId3" Type="http://schemas.openxmlformats.org/officeDocument/2006/relationships/image" Target="../media/image17.svg"/><Relationship Id="rId7" Type="http://schemas.openxmlformats.org/officeDocument/2006/relationships/image" Target="../media/image21.svg"/><Relationship Id="rId12" Type="http://schemas.openxmlformats.org/officeDocument/2006/relationships/image" Target="../media/image26.png"/><Relationship Id="rId2" Type="http://schemas.openxmlformats.org/officeDocument/2006/relationships/image" Target="../media/image16.png"/><Relationship Id="rId1" Type="http://schemas.openxmlformats.org/officeDocument/2006/relationships/slideLayout" Target="../slideLayouts/slideLayout7.xml"/><Relationship Id="rId6" Type="http://schemas.openxmlformats.org/officeDocument/2006/relationships/image" Target="../media/image20.png"/><Relationship Id="rId11" Type="http://schemas.openxmlformats.org/officeDocument/2006/relationships/image" Target="../media/image25.svg"/><Relationship Id="rId5" Type="http://schemas.openxmlformats.org/officeDocument/2006/relationships/image" Target="../media/image19.svg"/><Relationship Id="rId10" Type="http://schemas.openxmlformats.org/officeDocument/2006/relationships/image" Target="../media/image24.png"/><Relationship Id="rId4" Type="http://schemas.openxmlformats.org/officeDocument/2006/relationships/image" Target="../media/image18.png"/><Relationship Id="rId9" Type="http://schemas.openxmlformats.org/officeDocument/2006/relationships/image" Target="../media/image23.sv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EF6F3"/>
        </a:solidFill>
        <a:effectLst/>
      </p:bgPr>
    </p:bg>
    <p:spTree>
      <p:nvGrpSpPr>
        <p:cNvPr id="1" name=""/>
        <p:cNvGrpSpPr/>
        <p:nvPr/>
      </p:nvGrpSpPr>
      <p:grpSpPr>
        <a:xfrm>
          <a:off x="0" y="0"/>
          <a:ext cx="0" cy="0"/>
          <a:chOff x="0" y="0"/>
          <a:chExt cx="0" cy="0"/>
        </a:xfrm>
      </p:grpSpPr>
      <p:sp>
        <p:nvSpPr>
          <p:cNvPr id="3" name="Freeform 3"/>
          <p:cNvSpPr/>
          <p:nvPr/>
        </p:nvSpPr>
        <p:spPr>
          <a:xfrm rot="130985">
            <a:off x="-1843" y="6208356"/>
            <a:ext cx="6664379" cy="4168266"/>
          </a:xfrm>
          <a:custGeom>
            <a:avLst/>
            <a:gdLst/>
            <a:ahLst/>
            <a:cxnLst/>
            <a:rect l="l" t="t" r="r" b="b"/>
            <a:pathLst>
              <a:path w="6664379" h="4168266">
                <a:moveTo>
                  <a:pt x="0" y="0"/>
                </a:moveTo>
                <a:lnTo>
                  <a:pt x="6664379" y="0"/>
                </a:lnTo>
                <a:lnTo>
                  <a:pt x="6664379" y="4168266"/>
                </a:lnTo>
                <a:lnTo>
                  <a:pt x="0" y="4168266"/>
                </a:lnTo>
                <a:lnTo>
                  <a:pt x="0" y="0"/>
                </a:lnTo>
                <a:close/>
              </a:path>
            </a:pathLst>
          </a:custGeom>
          <a:blipFill>
            <a:blip r:embed="rId2">
              <a:alphaModFix amt="23000"/>
              <a:extLst>
                <a:ext uri="{96DAC541-7B7A-43D3-8B79-37D633B846F1}">
                  <asvg:svgBlip xmlns:asvg="http://schemas.microsoft.com/office/drawing/2016/SVG/main" r:embed="rId3"/>
                </a:ext>
              </a:extLst>
            </a:blip>
            <a:stretch>
              <a:fillRect/>
            </a:stretch>
          </a:blipFill>
        </p:spPr>
        <p:txBody>
          <a:bodyPr/>
          <a:lstStyle/>
          <a:p>
            <a:endParaRPr lang="en-IN"/>
          </a:p>
        </p:txBody>
      </p:sp>
      <p:sp>
        <p:nvSpPr>
          <p:cNvPr id="6" name="Freeform 6"/>
          <p:cNvSpPr/>
          <p:nvPr/>
        </p:nvSpPr>
        <p:spPr>
          <a:xfrm>
            <a:off x="12375045" y="-831805"/>
            <a:ext cx="5853820" cy="5619667"/>
          </a:xfrm>
          <a:custGeom>
            <a:avLst/>
            <a:gdLst/>
            <a:ahLst/>
            <a:cxnLst/>
            <a:rect l="l" t="t" r="r" b="b"/>
            <a:pathLst>
              <a:path w="5853820" h="5619667">
                <a:moveTo>
                  <a:pt x="0" y="0"/>
                </a:moveTo>
                <a:lnTo>
                  <a:pt x="5853820" y="0"/>
                </a:lnTo>
                <a:lnTo>
                  <a:pt x="5853820" y="5619668"/>
                </a:lnTo>
                <a:lnTo>
                  <a:pt x="0" y="5619668"/>
                </a:lnTo>
                <a:lnTo>
                  <a:pt x="0" y="0"/>
                </a:lnTo>
                <a:close/>
              </a:path>
            </a:pathLst>
          </a:custGeom>
          <a:blipFill>
            <a:blip r:embed="rId4">
              <a:alphaModFix amt="10999"/>
              <a:extLst>
                <a:ext uri="{96DAC541-7B7A-43D3-8B79-37D633B846F1}">
                  <asvg:svgBlip xmlns:asvg="http://schemas.microsoft.com/office/drawing/2016/SVG/main" r:embed="rId5"/>
                </a:ext>
              </a:extLst>
            </a:blip>
            <a:stretch>
              <a:fillRect/>
            </a:stretch>
          </a:blipFill>
        </p:spPr>
        <p:txBody>
          <a:bodyPr/>
          <a:lstStyle/>
          <a:p>
            <a:endParaRPr lang="en-IN"/>
          </a:p>
        </p:txBody>
      </p:sp>
      <p:sp>
        <p:nvSpPr>
          <p:cNvPr id="8" name="TextBox 8"/>
          <p:cNvSpPr txBox="1"/>
          <p:nvPr/>
        </p:nvSpPr>
        <p:spPr>
          <a:xfrm>
            <a:off x="381000" y="3497464"/>
            <a:ext cx="16764000" cy="1997406"/>
          </a:xfrm>
          <a:prstGeom prst="rect">
            <a:avLst/>
          </a:prstGeom>
        </p:spPr>
        <p:txBody>
          <a:bodyPr wrap="square" lIns="0" tIns="0" rIns="0" bIns="0" rtlCol="0" anchor="t">
            <a:spAutoFit/>
          </a:bodyPr>
          <a:lstStyle/>
          <a:p>
            <a:pPr algn="ctr">
              <a:lnSpc>
                <a:spcPts val="4214"/>
              </a:lnSpc>
            </a:pPr>
            <a:r>
              <a:rPr lang="en-US" sz="5000" b="1" dirty="0">
                <a:solidFill>
                  <a:srgbClr val="D75443"/>
                </a:solidFill>
                <a:latin typeface="DM Sans Bold"/>
                <a:ea typeface="DM Sans Bold"/>
                <a:cs typeface="DM Sans Bold"/>
                <a:sym typeface="DM Sans Bold"/>
              </a:rPr>
              <a:t>Enhanced Active Contour–Based Skin Lesion Segmentation and Ensemble Classification Using Gradient Boosting and Extra Trees</a:t>
            </a:r>
          </a:p>
          <a:p>
            <a:pPr algn="l">
              <a:lnSpc>
                <a:spcPts val="3222"/>
              </a:lnSpc>
            </a:pPr>
            <a:endParaRPr lang="en-US" sz="2302" spc="25" dirty="0">
              <a:solidFill>
                <a:srgbClr val="512E1A"/>
              </a:solidFill>
              <a:latin typeface="Roboto"/>
              <a:ea typeface="Roboto"/>
              <a:cs typeface="Roboto"/>
              <a:sym typeface="Roboto"/>
            </a:endParaRPr>
          </a:p>
        </p:txBody>
      </p:sp>
      <p:sp>
        <p:nvSpPr>
          <p:cNvPr id="10" name="TextBox 10"/>
          <p:cNvSpPr txBox="1"/>
          <p:nvPr/>
        </p:nvSpPr>
        <p:spPr>
          <a:xfrm>
            <a:off x="6774677" y="7496950"/>
            <a:ext cx="13221963" cy="1591077"/>
          </a:xfrm>
          <a:prstGeom prst="rect">
            <a:avLst/>
          </a:prstGeom>
        </p:spPr>
        <p:txBody>
          <a:bodyPr lIns="0" tIns="0" rIns="0" bIns="0" rtlCol="0" anchor="t">
            <a:spAutoFit/>
          </a:bodyPr>
          <a:lstStyle/>
          <a:p>
            <a:pPr algn="ctr">
              <a:lnSpc>
                <a:spcPts val="4200"/>
              </a:lnSpc>
            </a:pPr>
            <a:r>
              <a:rPr lang="en-US" sz="2400" b="1">
                <a:solidFill>
                  <a:srgbClr val="D75443"/>
                </a:solidFill>
                <a:latin typeface="DM Sans"/>
                <a:ea typeface="DM Sans"/>
                <a:cs typeface="DM Sans"/>
                <a:sym typeface="DM Sans"/>
              </a:rPr>
              <a:t>BY</a:t>
            </a:r>
          </a:p>
          <a:p>
            <a:pPr algn="ctr">
              <a:lnSpc>
                <a:spcPts val="4200"/>
              </a:lnSpc>
            </a:pPr>
            <a:r>
              <a:rPr lang="en-US" sz="2400" b="1">
                <a:solidFill>
                  <a:srgbClr val="D75443"/>
                </a:solidFill>
                <a:latin typeface="DM Sans"/>
                <a:ea typeface="DM Sans"/>
                <a:cs typeface="DM Sans"/>
                <a:sym typeface="DM Sans"/>
              </a:rPr>
              <a:t>HEMILA SARAVANAN-23MIA1048</a:t>
            </a:r>
          </a:p>
          <a:p>
            <a:pPr algn="ctr">
              <a:lnSpc>
                <a:spcPts val="4200"/>
              </a:lnSpc>
              <a:spcBef>
                <a:spcPct val="0"/>
              </a:spcBef>
            </a:pPr>
            <a:r>
              <a:rPr lang="en-US" sz="2400" b="1">
                <a:solidFill>
                  <a:srgbClr val="D75443"/>
                </a:solidFill>
                <a:latin typeface="DM Sans"/>
                <a:ea typeface="DM Sans"/>
                <a:cs typeface="DM Sans"/>
                <a:sym typeface="DM Sans"/>
              </a:rPr>
              <a:t>LOKIREDDY MADHAVI-23MIA1135</a:t>
            </a:r>
            <a:endParaRPr lang="en-US" sz="2400" b="1" dirty="0">
              <a:solidFill>
                <a:srgbClr val="D75443"/>
              </a:solidFill>
              <a:latin typeface="DM Sans"/>
              <a:ea typeface="DM Sans"/>
              <a:cs typeface="DM Sans"/>
              <a:sym typeface="DM Sans"/>
            </a:endParaRPr>
          </a:p>
        </p:txBody>
      </p:sp>
      <p:sp>
        <p:nvSpPr>
          <p:cNvPr id="13" name="Freeform 4">
            <a:extLst>
              <a:ext uri="{FF2B5EF4-FFF2-40B4-BE49-F238E27FC236}">
                <a16:creationId xmlns:a16="http://schemas.microsoft.com/office/drawing/2014/main" id="{9BC066B1-AB31-A71E-7F24-5E6F6C86711A}"/>
              </a:ext>
            </a:extLst>
          </p:cNvPr>
          <p:cNvSpPr/>
          <p:nvPr/>
        </p:nvSpPr>
        <p:spPr>
          <a:xfrm>
            <a:off x="14173200" y="6082936"/>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r:embed="rId6">
              <a:alphaModFix amt="12000"/>
              <a:extLst>
                <a:ext uri="{96DAC541-7B7A-43D3-8B79-37D633B846F1}">
                  <asvg:svgBlip xmlns:asvg="http://schemas.microsoft.com/office/drawing/2016/SVG/main" r:embed="rId7"/>
                </a:ext>
              </a:extLst>
            </a:blip>
            <a:stretch>
              <a:fillRect/>
            </a:stretch>
          </a:blipFill>
        </p:spPr>
        <p:txBody>
          <a:bodyPr/>
          <a:lstStyle/>
          <a:p>
            <a:endParaRPr lang="en-IN"/>
          </a:p>
        </p:txBody>
      </p:sp>
      <p:sp>
        <p:nvSpPr>
          <p:cNvPr id="14" name="Freeform 3">
            <a:extLst>
              <a:ext uri="{FF2B5EF4-FFF2-40B4-BE49-F238E27FC236}">
                <a16:creationId xmlns:a16="http://schemas.microsoft.com/office/drawing/2014/main" id="{F9B6DC12-7A9F-3101-4F1B-D9339B08C5C3}"/>
              </a:ext>
            </a:extLst>
          </p:cNvPr>
          <p:cNvSpPr/>
          <p:nvPr/>
        </p:nvSpPr>
        <p:spPr>
          <a:xfrm>
            <a:off x="381000" y="540855"/>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r:embed="rId6">
              <a:alphaModFix amt="5000"/>
              <a:extLst>
                <a:ext uri="{96DAC541-7B7A-43D3-8B79-37D633B846F1}">
                  <asvg:svgBlip xmlns:asvg="http://schemas.microsoft.com/office/drawing/2016/SVG/main" r:embed="rId7"/>
                </a:ext>
              </a:extLst>
            </a:blip>
            <a:stretch>
              <a:fillRect/>
            </a:stretch>
          </a:blipFill>
        </p:spPr>
        <p:txBody>
          <a:bodyPr/>
          <a:lstStyle/>
          <a:p>
            <a:endParaRPr lang="en-IN"/>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EF6F3"/>
        </a:solidFill>
        <a:effectLst/>
      </p:bgPr>
    </p:bg>
    <p:spTree>
      <p:nvGrpSpPr>
        <p:cNvPr id="1" name="">
          <a:extLst>
            <a:ext uri="{FF2B5EF4-FFF2-40B4-BE49-F238E27FC236}">
              <a16:creationId xmlns:a16="http://schemas.microsoft.com/office/drawing/2014/main" id="{95568B90-D32D-80CB-FDED-B57385363CDB}"/>
            </a:ext>
          </a:extLst>
        </p:cNvPr>
        <p:cNvGrpSpPr/>
        <p:nvPr/>
      </p:nvGrpSpPr>
      <p:grpSpPr>
        <a:xfrm>
          <a:off x="0" y="0"/>
          <a:ext cx="0" cy="0"/>
          <a:chOff x="0" y="0"/>
          <a:chExt cx="0" cy="0"/>
        </a:xfrm>
      </p:grpSpPr>
      <p:sp>
        <p:nvSpPr>
          <p:cNvPr id="3" name="Freeform 3">
            <a:extLst>
              <a:ext uri="{FF2B5EF4-FFF2-40B4-BE49-F238E27FC236}">
                <a16:creationId xmlns:a16="http://schemas.microsoft.com/office/drawing/2014/main" id="{455FFD0A-777E-B19F-1EDC-F9BCB9D2B7A0}"/>
              </a:ext>
            </a:extLst>
          </p:cNvPr>
          <p:cNvSpPr/>
          <p:nvPr/>
        </p:nvSpPr>
        <p:spPr>
          <a:xfrm rot="130985">
            <a:off x="68495" y="6208356"/>
            <a:ext cx="6664379" cy="4168266"/>
          </a:xfrm>
          <a:custGeom>
            <a:avLst/>
            <a:gdLst/>
            <a:ahLst/>
            <a:cxnLst/>
            <a:rect l="l" t="t" r="r" b="b"/>
            <a:pathLst>
              <a:path w="6664379" h="4168266">
                <a:moveTo>
                  <a:pt x="0" y="0"/>
                </a:moveTo>
                <a:lnTo>
                  <a:pt x="6664379" y="0"/>
                </a:lnTo>
                <a:lnTo>
                  <a:pt x="6664379" y="4168266"/>
                </a:lnTo>
                <a:lnTo>
                  <a:pt x="0" y="4168266"/>
                </a:lnTo>
                <a:lnTo>
                  <a:pt x="0" y="0"/>
                </a:lnTo>
                <a:close/>
              </a:path>
            </a:pathLst>
          </a:custGeom>
          <a:blipFill>
            <a:blip r:embed="rId2">
              <a:alphaModFix amt="23000"/>
              <a:extLst>
                <a:ext uri="{96DAC541-7B7A-43D3-8B79-37D633B846F1}">
                  <asvg:svgBlip xmlns:asvg="http://schemas.microsoft.com/office/drawing/2016/SVG/main" r:embed="rId3"/>
                </a:ext>
              </a:extLst>
            </a:blip>
            <a:stretch>
              <a:fillRect/>
            </a:stretch>
          </a:blipFill>
        </p:spPr>
        <p:txBody>
          <a:bodyPr/>
          <a:lstStyle/>
          <a:p>
            <a:endParaRPr lang="en-IN"/>
          </a:p>
        </p:txBody>
      </p:sp>
      <p:sp>
        <p:nvSpPr>
          <p:cNvPr id="6" name="Freeform 6">
            <a:extLst>
              <a:ext uri="{FF2B5EF4-FFF2-40B4-BE49-F238E27FC236}">
                <a16:creationId xmlns:a16="http://schemas.microsoft.com/office/drawing/2014/main" id="{0536DAD5-A561-7DC3-70D2-68E3B48D8EEE}"/>
              </a:ext>
            </a:extLst>
          </p:cNvPr>
          <p:cNvSpPr/>
          <p:nvPr/>
        </p:nvSpPr>
        <p:spPr>
          <a:xfrm>
            <a:off x="12375045" y="-831805"/>
            <a:ext cx="5853820" cy="5619667"/>
          </a:xfrm>
          <a:custGeom>
            <a:avLst/>
            <a:gdLst/>
            <a:ahLst/>
            <a:cxnLst/>
            <a:rect l="l" t="t" r="r" b="b"/>
            <a:pathLst>
              <a:path w="5853820" h="5619667">
                <a:moveTo>
                  <a:pt x="0" y="0"/>
                </a:moveTo>
                <a:lnTo>
                  <a:pt x="5853820" y="0"/>
                </a:lnTo>
                <a:lnTo>
                  <a:pt x="5853820" y="5619668"/>
                </a:lnTo>
                <a:lnTo>
                  <a:pt x="0" y="5619668"/>
                </a:lnTo>
                <a:lnTo>
                  <a:pt x="0" y="0"/>
                </a:lnTo>
                <a:close/>
              </a:path>
            </a:pathLst>
          </a:custGeom>
          <a:blipFill>
            <a:blip r:embed="rId4">
              <a:alphaModFix amt="10999"/>
              <a:extLst>
                <a:ext uri="{96DAC541-7B7A-43D3-8B79-37D633B846F1}">
                  <asvg:svgBlip xmlns:asvg="http://schemas.microsoft.com/office/drawing/2016/SVG/main" r:embed="rId5"/>
                </a:ext>
              </a:extLst>
            </a:blip>
            <a:stretch>
              <a:fillRect/>
            </a:stretch>
          </a:blipFill>
        </p:spPr>
        <p:txBody>
          <a:bodyPr/>
          <a:lstStyle/>
          <a:p>
            <a:endParaRPr lang="en-IN"/>
          </a:p>
        </p:txBody>
      </p:sp>
      <p:sp>
        <p:nvSpPr>
          <p:cNvPr id="7" name="TextBox 7">
            <a:extLst>
              <a:ext uri="{FF2B5EF4-FFF2-40B4-BE49-F238E27FC236}">
                <a16:creationId xmlns:a16="http://schemas.microsoft.com/office/drawing/2014/main" id="{85917126-1AA1-41F3-4DCE-08E722817FD7}"/>
              </a:ext>
            </a:extLst>
          </p:cNvPr>
          <p:cNvSpPr txBox="1"/>
          <p:nvPr/>
        </p:nvSpPr>
        <p:spPr>
          <a:xfrm>
            <a:off x="263905" y="747152"/>
            <a:ext cx="6545941" cy="885799"/>
          </a:xfrm>
          <a:prstGeom prst="rect">
            <a:avLst/>
          </a:prstGeom>
        </p:spPr>
        <p:txBody>
          <a:bodyPr lIns="0" tIns="0" rIns="0" bIns="0" rtlCol="0" anchor="t">
            <a:spAutoFit/>
          </a:bodyPr>
          <a:lstStyle/>
          <a:p>
            <a:pPr algn="ctr">
              <a:lnSpc>
                <a:spcPts val="6641"/>
              </a:lnSpc>
            </a:pPr>
            <a:r>
              <a:rPr lang="en-US" sz="6846">
                <a:solidFill>
                  <a:srgbClr val="D75443"/>
                </a:solidFill>
                <a:latin typeface="DM Sans"/>
                <a:ea typeface="DM Sans"/>
                <a:cs typeface="DM Sans"/>
                <a:sym typeface="DM Sans"/>
              </a:rPr>
              <a:t>MOTIVATION</a:t>
            </a:r>
          </a:p>
        </p:txBody>
      </p:sp>
      <p:sp>
        <p:nvSpPr>
          <p:cNvPr id="8" name="TextBox 8">
            <a:extLst>
              <a:ext uri="{FF2B5EF4-FFF2-40B4-BE49-F238E27FC236}">
                <a16:creationId xmlns:a16="http://schemas.microsoft.com/office/drawing/2014/main" id="{C9C56F7A-0DFD-816F-28DF-1B9FEC6AB08C}"/>
              </a:ext>
            </a:extLst>
          </p:cNvPr>
          <p:cNvSpPr txBox="1"/>
          <p:nvPr/>
        </p:nvSpPr>
        <p:spPr>
          <a:xfrm>
            <a:off x="1218255" y="2176953"/>
            <a:ext cx="13221963" cy="1998928"/>
          </a:xfrm>
          <a:prstGeom prst="rect">
            <a:avLst/>
          </a:prstGeom>
        </p:spPr>
        <p:txBody>
          <a:bodyPr lIns="0" tIns="0" rIns="0" bIns="0" rtlCol="0" anchor="t">
            <a:spAutoFit/>
          </a:bodyPr>
          <a:lstStyle/>
          <a:p>
            <a:pPr algn="just">
              <a:lnSpc>
                <a:spcPts val="3222"/>
              </a:lnSpc>
            </a:pPr>
            <a:r>
              <a:rPr lang="en-US" sz="2302" spc="25" dirty="0">
                <a:solidFill>
                  <a:srgbClr val="512E1A"/>
                </a:solidFill>
                <a:latin typeface="Roboto"/>
                <a:ea typeface="Roboto"/>
                <a:cs typeface="Roboto"/>
                <a:sym typeface="Roboto"/>
              </a:rPr>
              <a:t>Skin cancer, especially melanoma, is highly fatal if not detected early. Manual dermoscopic diagnosis is often subjective and time-consuming, leading to inconsistencies in detection. Automated segmentation and classification systems can provide accurate, consistent and early diagnosis support for clinicians.</a:t>
            </a:r>
          </a:p>
          <a:p>
            <a:pPr algn="l">
              <a:lnSpc>
                <a:spcPts val="3222"/>
              </a:lnSpc>
            </a:pPr>
            <a:endParaRPr lang="en-US" sz="2302" spc="25" dirty="0">
              <a:solidFill>
                <a:srgbClr val="512E1A"/>
              </a:solidFill>
              <a:latin typeface="Roboto"/>
              <a:ea typeface="Roboto"/>
              <a:cs typeface="Roboto"/>
              <a:sym typeface="Roboto"/>
            </a:endParaRPr>
          </a:p>
        </p:txBody>
      </p:sp>
      <p:sp>
        <p:nvSpPr>
          <p:cNvPr id="9" name="TextBox 9">
            <a:extLst>
              <a:ext uri="{FF2B5EF4-FFF2-40B4-BE49-F238E27FC236}">
                <a16:creationId xmlns:a16="http://schemas.microsoft.com/office/drawing/2014/main" id="{F7EB6917-6104-9316-DDC2-48847A4D2A8D}"/>
              </a:ext>
            </a:extLst>
          </p:cNvPr>
          <p:cNvSpPr txBox="1"/>
          <p:nvPr/>
        </p:nvSpPr>
        <p:spPr>
          <a:xfrm>
            <a:off x="263905" y="4776801"/>
            <a:ext cx="10284394" cy="885799"/>
          </a:xfrm>
          <a:prstGeom prst="rect">
            <a:avLst/>
          </a:prstGeom>
        </p:spPr>
        <p:txBody>
          <a:bodyPr lIns="0" tIns="0" rIns="0" bIns="0" rtlCol="0" anchor="t">
            <a:spAutoFit/>
          </a:bodyPr>
          <a:lstStyle/>
          <a:p>
            <a:pPr algn="ctr">
              <a:lnSpc>
                <a:spcPts val="6641"/>
              </a:lnSpc>
            </a:pPr>
            <a:r>
              <a:rPr lang="en-US" sz="6846">
                <a:solidFill>
                  <a:srgbClr val="D75443"/>
                </a:solidFill>
                <a:latin typeface="DM Sans"/>
                <a:ea typeface="DM Sans"/>
                <a:cs typeface="DM Sans"/>
                <a:sym typeface="DM Sans"/>
              </a:rPr>
              <a:t>PROBLEM STATEMENT</a:t>
            </a:r>
          </a:p>
        </p:txBody>
      </p:sp>
      <p:sp>
        <p:nvSpPr>
          <p:cNvPr id="10" name="TextBox 10">
            <a:extLst>
              <a:ext uri="{FF2B5EF4-FFF2-40B4-BE49-F238E27FC236}">
                <a16:creationId xmlns:a16="http://schemas.microsoft.com/office/drawing/2014/main" id="{07224911-794F-8371-CA32-2EA62B683327}"/>
              </a:ext>
            </a:extLst>
          </p:cNvPr>
          <p:cNvSpPr txBox="1"/>
          <p:nvPr/>
        </p:nvSpPr>
        <p:spPr>
          <a:xfrm>
            <a:off x="1218255" y="6091728"/>
            <a:ext cx="13221963" cy="2433423"/>
          </a:xfrm>
          <a:prstGeom prst="rect">
            <a:avLst/>
          </a:prstGeom>
        </p:spPr>
        <p:txBody>
          <a:bodyPr lIns="0" tIns="0" rIns="0" bIns="0" rtlCol="0" anchor="t">
            <a:spAutoFit/>
          </a:bodyPr>
          <a:lstStyle/>
          <a:p>
            <a:pPr algn="just">
              <a:lnSpc>
                <a:spcPts val="3222"/>
              </a:lnSpc>
            </a:pPr>
            <a:r>
              <a:rPr lang="en-US" sz="2302" spc="25" dirty="0">
                <a:solidFill>
                  <a:srgbClr val="512E1A"/>
                </a:solidFill>
                <a:latin typeface="Roboto"/>
                <a:ea typeface="Roboto"/>
                <a:cs typeface="Roboto"/>
                <a:sym typeface="Roboto"/>
              </a:rPr>
              <a:t>Existing skin lesion analysis methods struggle with low contrast, irregular boundaries and uneven illumination. They rely heavily on handcrafted features that fail to capture complex lesion patterns. Traditional classifiers like KNN and SVM offer limited performance in high-dimensional, non-linear feature spaces, highlighting the need for a more robust and adaptive approaches.</a:t>
            </a:r>
          </a:p>
          <a:p>
            <a:pPr algn="just">
              <a:lnSpc>
                <a:spcPts val="3222"/>
              </a:lnSpc>
            </a:pPr>
            <a:endParaRPr lang="en-US" sz="2302" spc="25" dirty="0">
              <a:solidFill>
                <a:srgbClr val="512E1A"/>
              </a:solidFill>
              <a:latin typeface="Roboto"/>
              <a:ea typeface="Roboto"/>
              <a:cs typeface="Roboto"/>
              <a:sym typeface="Roboto"/>
            </a:endParaRPr>
          </a:p>
          <a:p>
            <a:pPr algn="l">
              <a:lnSpc>
                <a:spcPts val="3222"/>
              </a:lnSpc>
            </a:pPr>
            <a:endParaRPr lang="en-US" sz="2302" spc="25" dirty="0">
              <a:solidFill>
                <a:srgbClr val="512E1A"/>
              </a:solidFill>
              <a:latin typeface="Roboto"/>
              <a:ea typeface="Roboto"/>
              <a:cs typeface="Roboto"/>
              <a:sym typeface="Roboto"/>
            </a:endParaRPr>
          </a:p>
        </p:txBody>
      </p:sp>
    </p:spTree>
    <p:extLst>
      <p:ext uri="{BB962C8B-B14F-4D97-AF65-F5344CB8AC3E}">
        <p14:creationId xmlns:p14="http://schemas.microsoft.com/office/powerpoint/2010/main" val="241739911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EF6F3"/>
        </a:solidFill>
        <a:effectLst/>
      </p:bgPr>
    </p:bg>
    <p:spTree>
      <p:nvGrpSpPr>
        <p:cNvPr id="1" name=""/>
        <p:cNvGrpSpPr/>
        <p:nvPr/>
      </p:nvGrpSpPr>
      <p:grpSpPr>
        <a:xfrm>
          <a:off x="0" y="0"/>
          <a:ext cx="0" cy="0"/>
          <a:chOff x="0" y="0"/>
          <a:chExt cx="0" cy="0"/>
        </a:xfrm>
      </p:grpSpPr>
      <p:sp>
        <p:nvSpPr>
          <p:cNvPr id="2" name="TextBox 2"/>
          <p:cNvSpPr txBox="1"/>
          <p:nvPr/>
        </p:nvSpPr>
        <p:spPr>
          <a:xfrm>
            <a:off x="-482471" y="662001"/>
            <a:ext cx="11910237" cy="885799"/>
          </a:xfrm>
          <a:prstGeom prst="rect">
            <a:avLst/>
          </a:prstGeom>
        </p:spPr>
        <p:txBody>
          <a:bodyPr lIns="0" tIns="0" rIns="0" bIns="0" rtlCol="0" anchor="t">
            <a:spAutoFit/>
          </a:bodyPr>
          <a:lstStyle/>
          <a:p>
            <a:pPr algn="ctr">
              <a:lnSpc>
                <a:spcPts val="6641"/>
              </a:lnSpc>
            </a:pPr>
            <a:r>
              <a:rPr lang="en-US" sz="6846">
                <a:solidFill>
                  <a:srgbClr val="D75443"/>
                </a:solidFill>
                <a:latin typeface="DM Sans"/>
                <a:ea typeface="DM Sans"/>
                <a:cs typeface="DM Sans"/>
                <a:sym typeface="DM Sans"/>
              </a:rPr>
              <a:t>BASE PAPER SUMMARY</a:t>
            </a:r>
          </a:p>
        </p:txBody>
      </p:sp>
      <p:sp>
        <p:nvSpPr>
          <p:cNvPr id="3" name="Freeform 3"/>
          <p:cNvSpPr/>
          <p:nvPr/>
        </p:nvSpPr>
        <p:spPr>
          <a:xfrm>
            <a:off x="223569" y="5568590"/>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r:embed="rId2">
              <a:alphaModFix amt="5000"/>
              <a:extLst>
                <a:ext uri="{96DAC541-7B7A-43D3-8B79-37D633B846F1}">
                  <asvg:svgBlip xmlns:asvg="http://schemas.microsoft.com/office/drawing/2016/SVG/main" r:embed="rId3"/>
                </a:ext>
              </a:extLst>
            </a:blip>
            <a:stretch>
              <a:fillRect/>
            </a:stretch>
          </a:blipFill>
        </p:spPr>
        <p:txBody>
          <a:bodyPr/>
          <a:lstStyle/>
          <a:p>
            <a:endParaRPr lang="en-IN"/>
          </a:p>
        </p:txBody>
      </p:sp>
      <p:sp>
        <p:nvSpPr>
          <p:cNvPr id="4" name="Freeform 4"/>
          <p:cNvSpPr/>
          <p:nvPr/>
        </p:nvSpPr>
        <p:spPr>
          <a:xfrm>
            <a:off x="13299768" y="4558296"/>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r:embed="rId2">
              <a:alphaModFix amt="12000"/>
              <a:extLst>
                <a:ext uri="{96DAC541-7B7A-43D3-8B79-37D633B846F1}">
                  <asvg:svgBlip xmlns:asvg="http://schemas.microsoft.com/office/drawing/2016/SVG/main" r:embed="rId3"/>
                </a:ext>
              </a:extLst>
            </a:blip>
            <a:stretch>
              <a:fillRect/>
            </a:stretch>
          </a:blipFill>
        </p:spPr>
        <p:txBody>
          <a:bodyPr/>
          <a:lstStyle/>
          <a:p>
            <a:endParaRPr lang="en-IN"/>
          </a:p>
        </p:txBody>
      </p:sp>
      <p:sp>
        <p:nvSpPr>
          <p:cNvPr id="5" name="Freeform 5"/>
          <p:cNvSpPr/>
          <p:nvPr/>
        </p:nvSpPr>
        <p:spPr>
          <a:xfrm>
            <a:off x="11811000" y="-1181100"/>
            <a:ext cx="5853820" cy="5619667"/>
          </a:xfrm>
          <a:custGeom>
            <a:avLst/>
            <a:gdLst/>
            <a:ahLst/>
            <a:cxnLst/>
            <a:rect l="l" t="t" r="r" b="b"/>
            <a:pathLst>
              <a:path w="5853820" h="5619667">
                <a:moveTo>
                  <a:pt x="0" y="0"/>
                </a:moveTo>
                <a:lnTo>
                  <a:pt x="5853820" y="0"/>
                </a:lnTo>
                <a:lnTo>
                  <a:pt x="5853820" y="5619668"/>
                </a:lnTo>
                <a:lnTo>
                  <a:pt x="0" y="5619668"/>
                </a:lnTo>
                <a:lnTo>
                  <a:pt x="0" y="0"/>
                </a:lnTo>
                <a:close/>
              </a:path>
            </a:pathLst>
          </a:custGeom>
          <a:blipFill>
            <a:blip r:embed="rId4">
              <a:alphaModFix amt="13000"/>
              <a:extLst>
                <a:ext uri="{96DAC541-7B7A-43D3-8B79-37D633B846F1}">
                  <asvg:svgBlip xmlns:asvg="http://schemas.microsoft.com/office/drawing/2016/SVG/main" r:embed="rId5"/>
                </a:ext>
              </a:extLst>
            </a:blip>
            <a:stretch>
              <a:fillRect/>
            </a:stretch>
          </a:blipFill>
        </p:spPr>
        <p:txBody>
          <a:bodyPr/>
          <a:lstStyle/>
          <a:p>
            <a:endParaRPr lang="en-IN"/>
          </a:p>
        </p:txBody>
      </p:sp>
      <p:sp>
        <p:nvSpPr>
          <p:cNvPr id="6" name="TextBox 6"/>
          <p:cNvSpPr txBox="1"/>
          <p:nvPr/>
        </p:nvSpPr>
        <p:spPr>
          <a:xfrm>
            <a:off x="1028701" y="1805708"/>
            <a:ext cx="14328468" cy="2023054"/>
          </a:xfrm>
          <a:prstGeom prst="rect">
            <a:avLst/>
          </a:prstGeom>
        </p:spPr>
        <p:txBody>
          <a:bodyPr wrap="square" lIns="0" tIns="0" rIns="0" bIns="0" rtlCol="0" anchor="t">
            <a:spAutoFit/>
          </a:bodyPr>
          <a:lstStyle/>
          <a:p>
            <a:pPr algn="l">
              <a:lnSpc>
                <a:spcPts val="3222"/>
              </a:lnSpc>
            </a:pPr>
            <a:r>
              <a:rPr lang="en-US" sz="2302" b="1" u="sng" spc="25" dirty="0">
                <a:solidFill>
                  <a:srgbClr val="512E1A"/>
                </a:solidFill>
                <a:latin typeface="Roboto Bold"/>
                <a:ea typeface="Roboto Bold"/>
                <a:cs typeface="Roboto Bold"/>
                <a:sym typeface="Roboto Bold"/>
              </a:rPr>
              <a:t>Base Paper:</a:t>
            </a:r>
          </a:p>
          <a:p>
            <a:pPr algn="l">
              <a:lnSpc>
                <a:spcPts val="3222"/>
              </a:lnSpc>
            </a:pPr>
            <a:endParaRPr lang="en-US" sz="2302" b="1" u="sng" spc="25" dirty="0">
              <a:solidFill>
                <a:srgbClr val="512E1A"/>
              </a:solidFill>
              <a:latin typeface="Roboto Bold"/>
              <a:ea typeface="Roboto Bold"/>
              <a:cs typeface="Roboto Bold"/>
              <a:sym typeface="Roboto Bold"/>
            </a:endParaRPr>
          </a:p>
          <a:p>
            <a:pPr algn="l">
              <a:lnSpc>
                <a:spcPts val="3222"/>
              </a:lnSpc>
            </a:pPr>
            <a:r>
              <a:rPr lang="en-US" sz="2302" spc="25" dirty="0">
                <a:solidFill>
                  <a:srgbClr val="512E1A"/>
                </a:solidFill>
                <a:latin typeface="Roboto"/>
                <a:ea typeface="Roboto"/>
                <a:cs typeface="Roboto"/>
                <a:sym typeface="Roboto"/>
              </a:rPr>
              <a:t>“Active Contours Based Segmentation and Lesion Periphery Analysis for Characterization of Skin Lesions in </a:t>
            </a:r>
            <a:r>
              <a:rPr lang="en-US" sz="2302" spc="25" dirty="0" err="1">
                <a:solidFill>
                  <a:srgbClr val="512E1A"/>
                </a:solidFill>
                <a:latin typeface="Roboto"/>
                <a:ea typeface="Roboto"/>
                <a:cs typeface="Roboto"/>
                <a:sym typeface="Roboto"/>
              </a:rPr>
              <a:t>Dermoscopy</a:t>
            </a:r>
            <a:r>
              <a:rPr lang="en-US" sz="2302" spc="25" dirty="0">
                <a:solidFill>
                  <a:srgbClr val="512E1A"/>
                </a:solidFill>
                <a:latin typeface="Roboto"/>
                <a:ea typeface="Roboto"/>
                <a:cs typeface="Roboto"/>
                <a:sym typeface="Roboto"/>
              </a:rPr>
              <a:t> Images”</a:t>
            </a:r>
          </a:p>
          <a:p>
            <a:pPr algn="l">
              <a:lnSpc>
                <a:spcPts val="3222"/>
              </a:lnSpc>
            </a:pPr>
            <a:r>
              <a:rPr lang="en-US" sz="2302" spc="25" dirty="0">
                <a:solidFill>
                  <a:srgbClr val="512E1A"/>
                </a:solidFill>
                <a:latin typeface="Roboto"/>
                <a:ea typeface="Roboto"/>
                <a:cs typeface="Roboto"/>
                <a:sym typeface="Roboto"/>
              </a:rPr>
              <a:t>                                      — Riaz et al., IEEE Journal of Biomedical and Health Informatics, 2019</a:t>
            </a:r>
          </a:p>
        </p:txBody>
      </p:sp>
      <p:sp>
        <p:nvSpPr>
          <p:cNvPr id="7" name="TextBox 7"/>
          <p:cNvSpPr txBox="1"/>
          <p:nvPr/>
        </p:nvSpPr>
        <p:spPr>
          <a:xfrm>
            <a:off x="1028700" y="4216718"/>
            <a:ext cx="14109529" cy="2398978"/>
          </a:xfrm>
          <a:prstGeom prst="rect">
            <a:avLst/>
          </a:prstGeom>
        </p:spPr>
        <p:txBody>
          <a:bodyPr lIns="0" tIns="0" rIns="0" bIns="0" rtlCol="0" anchor="t">
            <a:spAutoFit/>
          </a:bodyPr>
          <a:lstStyle/>
          <a:p>
            <a:pPr algn="l">
              <a:lnSpc>
                <a:spcPts val="3222"/>
              </a:lnSpc>
            </a:pPr>
            <a:r>
              <a:rPr lang="en-US" sz="2302" b="1" u="sng" spc="25" dirty="0">
                <a:solidFill>
                  <a:srgbClr val="512E1A"/>
                </a:solidFill>
                <a:latin typeface="Roboto Bold"/>
                <a:ea typeface="Roboto Bold"/>
                <a:cs typeface="Roboto Bold"/>
                <a:sym typeface="Roboto Bold"/>
              </a:rPr>
              <a:t>Ideas from base paper:</a:t>
            </a:r>
          </a:p>
          <a:p>
            <a:pPr algn="just">
              <a:lnSpc>
                <a:spcPts val="3222"/>
              </a:lnSpc>
            </a:pPr>
            <a:r>
              <a:rPr lang="en-US" sz="2302" spc="25" dirty="0">
                <a:solidFill>
                  <a:srgbClr val="512E1A"/>
                </a:solidFill>
                <a:latin typeface="Roboto"/>
                <a:ea typeface="Roboto"/>
                <a:cs typeface="Roboto"/>
                <a:sym typeface="Roboto"/>
              </a:rPr>
              <a:t>The base work by Riaz et al. introduced the Kullback–Leibler Level Set (KL–LS) model for probabilistic active contour segmentation of skin lesions. The method accurately refined lesion boundaries by comparing intensity distributions inside and outside the contour. It employed Local Binary Pattern (LBP) and center-corrected LBP features for texture representation and used K-Nearest Neighbors (KNN) and Support Vector Machine (SVM) classifiers for lesion classification.</a:t>
            </a:r>
          </a:p>
        </p:txBody>
      </p:sp>
      <p:sp>
        <p:nvSpPr>
          <p:cNvPr id="8" name="TextBox 8"/>
          <p:cNvSpPr txBox="1"/>
          <p:nvPr/>
        </p:nvSpPr>
        <p:spPr>
          <a:xfrm>
            <a:off x="1028700" y="7227802"/>
            <a:ext cx="14109529" cy="1998928"/>
          </a:xfrm>
          <a:prstGeom prst="rect">
            <a:avLst/>
          </a:prstGeom>
        </p:spPr>
        <p:txBody>
          <a:bodyPr lIns="0" tIns="0" rIns="0" bIns="0" rtlCol="0" anchor="t">
            <a:spAutoFit/>
          </a:bodyPr>
          <a:lstStyle/>
          <a:p>
            <a:pPr algn="l">
              <a:lnSpc>
                <a:spcPts val="3222"/>
              </a:lnSpc>
            </a:pPr>
            <a:r>
              <a:rPr lang="en-US" sz="2302" b="1" u="sng" spc="25" dirty="0">
                <a:solidFill>
                  <a:srgbClr val="512E1A"/>
                </a:solidFill>
                <a:latin typeface="Roboto Bold"/>
                <a:ea typeface="Roboto Bold"/>
                <a:cs typeface="Roboto Bold"/>
                <a:sym typeface="Roboto Bold"/>
              </a:rPr>
              <a:t>Limitations</a:t>
            </a:r>
            <a:r>
              <a:rPr lang="en-US" sz="2302" spc="25" dirty="0">
                <a:solidFill>
                  <a:srgbClr val="512E1A"/>
                </a:solidFill>
                <a:latin typeface="Roboto"/>
                <a:ea typeface="Roboto"/>
                <a:cs typeface="Roboto"/>
                <a:sym typeface="Roboto"/>
              </a:rPr>
              <a:t>:</a:t>
            </a:r>
          </a:p>
          <a:p>
            <a:pPr marL="497011" lvl="1" indent="-248505" algn="just">
              <a:lnSpc>
                <a:spcPts val="3222"/>
              </a:lnSpc>
              <a:buFont typeface="Arial"/>
              <a:buChar char="•"/>
            </a:pPr>
            <a:r>
              <a:rPr lang="en-US" sz="2302" spc="25" dirty="0">
                <a:solidFill>
                  <a:srgbClr val="512E1A"/>
                </a:solidFill>
                <a:latin typeface="Roboto"/>
                <a:ea typeface="Roboto"/>
                <a:cs typeface="Roboto"/>
                <a:sym typeface="Roboto"/>
              </a:rPr>
              <a:t>It relied on limited texture features.</a:t>
            </a:r>
          </a:p>
          <a:p>
            <a:pPr marL="497011" lvl="1" indent="-248505" algn="just">
              <a:lnSpc>
                <a:spcPts val="3222"/>
              </a:lnSpc>
              <a:buFont typeface="Arial"/>
              <a:buChar char="•"/>
            </a:pPr>
            <a:r>
              <a:rPr lang="en-US" sz="2302" spc="25" dirty="0">
                <a:solidFill>
                  <a:srgbClr val="512E1A"/>
                </a:solidFill>
                <a:latin typeface="Roboto"/>
                <a:ea typeface="Roboto"/>
                <a:cs typeface="Roboto"/>
                <a:sym typeface="Roboto"/>
              </a:rPr>
              <a:t>It lacked robustness for high-dimensional data .</a:t>
            </a:r>
          </a:p>
          <a:p>
            <a:pPr marL="497011" lvl="1" indent="-248505" algn="just">
              <a:lnSpc>
                <a:spcPts val="3222"/>
              </a:lnSpc>
              <a:buFont typeface="Arial"/>
              <a:buChar char="•"/>
            </a:pPr>
            <a:r>
              <a:rPr lang="en-US" sz="2302" spc="25" dirty="0">
                <a:solidFill>
                  <a:srgbClr val="512E1A"/>
                </a:solidFill>
                <a:latin typeface="Roboto"/>
                <a:ea typeface="Roboto"/>
                <a:cs typeface="Roboto"/>
                <a:sym typeface="Roboto"/>
              </a:rPr>
              <a:t>It did not incorporate ensemble or feature-level fusion strategies, resulting in restricted accuracy and generalization.</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EF6F3"/>
        </a:solidFill>
        <a:effectLst/>
      </p:bgPr>
    </p:bg>
    <p:spTree>
      <p:nvGrpSpPr>
        <p:cNvPr id="1" name=""/>
        <p:cNvGrpSpPr/>
        <p:nvPr/>
      </p:nvGrpSpPr>
      <p:grpSpPr>
        <a:xfrm>
          <a:off x="0" y="0"/>
          <a:ext cx="0" cy="0"/>
          <a:chOff x="0" y="0"/>
          <a:chExt cx="0" cy="0"/>
        </a:xfrm>
      </p:grpSpPr>
      <p:sp>
        <p:nvSpPr>
          <p:cNvPr id="2" name="Freeform 2"/>
          <p:cNvSpPr/>
          <p:nvPr/>
        </p:nvSpPr>
        <p:spPr>
          <a:xfrm>
            <a:off x="308118" y="4095469"/>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r:embed="rId2">
              <a:alphaModFix amt="12000"/>
              <a:extLst>
                <a:ext uri="{96DAC541-7B7A-43D3-8B79-37D633B846F1}">
                  <asvg:svgBlip xmlns:asvg="http://schemas.microsoft.com/office/drawing/2016/SVG/main" r:embed="rId3"/>
                </a:ext>
              </a:extLst>
            </a:blip>
            <a:stretch>
              <a:fillRect/>
            </a:stretch>
          </a:blipFill>
        </p:spPr>
        <p:txBody>
          <a:bodyPr/>
          <a:lstStyle/>
          <a:p>
            <a:endParaRPr lang="en-IN"/>
          </a:p>
        </p:txBody>
      </p:sp>
      <p:sp>
        <p:nvSpPr>
          <p:cNvPr id="3" name="Freeform 3"/>
          <p:cNvSpPr/>
          <p:nvPr/>
        </p:nvSpPr>
        <p:spPr>
          <a:xfrm>
            <a:off x="13880868" y="4838700"/>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r:embed="rId2">
              <a:alphaModFix amt="12000"/>
              <a:extLst>
                <a:ext uri="{96DAC541-7B7A-43D3-8B79-37D633B846F1}">
                  <asvg:svgBlip xmlns:asvg="http://schemas.microsoft.com/office/drawing/2016/SVG/main" r:embed="rId3"/>
                </a:ext>
              </a:extLst>
            </a:blip>
            <a:stretch>
              <a:fillRect/>
            </a:stretch>
          </a:blipFill>
        </p:spPr>
        <p:txBody>
          <a:bodyPr/>
          <a:lstStyle/>
          <a:p>
            <a:endParaRPr lang="en-IN" dirty="0"/>
          </a:p>
        </p:txBody>
      </p:sp>
      <p:sp>
        <p:nvSpPr>
          <p:cNvPr id="4" name="Freeform 4"/>
          <p:cNvSpPr/>
          <p:nvPr/>
        </p:nvSpPr>
        <p:spPr>
          <a:xfrm>
            <a:off x="12410399" y="-1028700"/>
            <a:ext cx="5853820" cy="5619667"/>
          </a:xfrm>
          <a:custGeom>
            <a:avLst/>
            <a:gdLst/>
            <a:ahLst/>
            <a:cxnLst/>
            <a:rect l="l" t="t" r="r" b="b"/>
            <a:pathLst>
              <a:path w="5853820" h="5619667">
                <a:moveTo>
                  <a:pt x="0" y="0"/>
                </a:moveTo>
                <a:lnTo>
                  <a:pt x="5853820" y="0"/>
                </a:lnTo>
                <a:lnTo>
                  <a:pt x="5853820" y="5619668"/>
                </a:lnTo>
                <a:lnTo>
                  <a:pt x="0" y="5619668"/>
                </a:lnTo>
                <a:lnTo>
                  <a:pt x="0" y="0"/>
                </a:lnTo>
                <a:close/>
              </a:path>
            </a:pathLst>
          </a:custGeom>
          <a:blipFill>
            <a:blip r:embed="rId4">
              <a:alphaModFix amt="12000"/>
              <a:extLst>
                <a:ext uri="{96DAC541-7B7A-43D3-8B79-37D633B846F1}">
                  <asvg:svgBlip xmlns:asvg="http://schemas.microsoft.com/office/drawing/2016/SVG/main" r:embed="rId5"/>
                </a:ext>
              </a:extLst>
            </a:blip>
            <a:stretch>
              <a:fillRect/>
            </a:stretch>
          </a:blipFill>
        </p:spPr>
        <p:txBody>
          <a:bodyPr/>
          <a:lstStyle/>
          <a:p>
            <a:endParaRPr lang="en-IN"/>
          </a:p>
        </p:txBody>
      </p:sp>
      <p:sp>
        <p:nvSpPr>
          <p:cNvPr id="5" name="Freeform 5"/>
          <p:cNvSpPr/>
          <p:nvPr/>
        </p:nvSpPr>
        <p:spPr>
          <a:xfrm>
            <a:off x="1028700" y="2076731"/>
            <a:ext cx="4500042" cy="7775451"/>
          </a:xfrm>
          <a:custGeom>
            <a:avLst/>
            <a:gdLst/>
            <a:ahLst/>
            <a:cxnLst/>
            <a:rect l="l" t="t" r="r" b="b"/>
            <a:pathLst>
              <a:path w="4500042" h="7775451">
                <a:moveTo>
                  <a:pt x="0" y="0"/>
                </a:moveTo>
                <a:lnTo>
                  <a:pt x="4500042" y="0"/>
                </a:lnTo>
                <a:lnTo>
                  <a:pt x="4500042" y="7775450"/>
                </a:lnTo>
                <a:lnTo>
                  <a:pt x="0" y="7775450"/>
                </a:lnTo>
                <a:lnTo>
                  <a:pt x="0" y="0"/>
                </a:lnTo>
                <a:close/>
              </a:path>
            </a:pathLst>
          </a:custGeom>
          <a:blipFill>
            <a:blip r:embed="rId6"/>
            <a:stretch>
              <a:fillRect/>
            </a:stretch>
          </a:blipFill>
        </p:spPr>
        <p:txBody>
          <a:bodyPr/>
          <a:lstStyle/>
          <a:p>
            <a:endParaRPr lang="en-IN"/>
          </a:p>
        </p:txBody>
      </p:sp>
      <p:sp>
        <p:nvSpPr>
          <p:cNvPr id="6" name="TextBox 6"/>
          <p:cNvSpPr txBox="1"/>
          <p:nvPr/>
        </p:nvSpPr>
        <p:spPr>
          <a:xfrm>
            <a:off x="176592" y="747152"/>
            <a:ext cx="13078252" cy="885799"/>
          </a:xfrm>
          <a:prstGeom prst="rect">
            <a:avLst/>
          </a:prstGeom>
        </p:spPr>
        <p:txBody>
          <a:bodyPr lIns="0" tIns="0" rIns="0" bIns="0" rtlCol="0" anchor="t">
            <a:spAutoFit/>
          </a:bodyPr>
          <a:lstStyle/>
          <a:p>
            <a:pPr algn="ctr">
              <a:lnSpc>
                <a:spcPts val="6641"/>
              </a:lnSpc>
            </a:pPr>
            <a:r>
              <a:rPr lang="en-US" sz="6846" dirty="0">
                <a:solidFill>
                  <a:srgbClr val="D75443"/>
                </a:solidFill>
                <a:latin typeface="DM Sans"/>
                <a:ea typeface="DM Sans"/>
                <a:cs typeface="DM Sans"/>
                <a:sym typeface="DM Sans"/>
              </a:rPr>
              <a:t>PROPOSED METHODOLOGY</a:t>
            </a:r>
          </a:p>
        </p:txBody>
      </p:sp>
      <p:sp>
        <p:nvSpPr>
          <p:cNvPr id="7" name="TextBox 7"/>
          <p:cNvSpPr txBox="1"/>
          <p:nvPr/>
        </p:nvSpPr>
        <p:spPr>
          <a:xfrm>
            <a:off x="7093682" y="2336092"/>
            <a:ext cx="10633434" cy="7199578"/>
          </a:xfrm>
          <a:prstGeom prst="rect">
            <a:avLst/>
          </a:prstGeom>
        </p:spPr>
        <p:txBody>
          <a:bodyPr lIns="0" tIns="0" rIns="0" bIns="0" rtlCol="0" anchor="t">
            <a:spAutoFit/>
          </a:bodyPr>
          <a:lstStyle/>
          <a:p>
            <a:pPr algn="l">
              <a:lnSpc>
                <a:spcPts val="3222"/>
              </a:lnSpc>
            </a:pPr>
            <a:r>
              <a:rPr lang="en-US" sz="2302" spc="25" dirty="0">
                <a:solidFill>
                  <a:srgbClr val="512E1A"/>
                </a:solidFill>
                <a:latin typeface="Roboto"/>
                <a:ea typeface="Roboto"/>
                <a:cs typeface="Roboto"/>
                <a:sym typeface="Roboto"/>
              </a:rPr>
              <a:t>The proposed system enhances segmentation and classification through a multi-stage pipeline:</a:t>
            </a:r>
          </a:p>
          <a:p>
            <a:pPr marL="497011" lvl="1" indent="-248505" algn="l">
              <a:lnSpc>
                <a:spcPts val="3222"/>
              </a:lnSpc>
              <a:buAutoNum type="arabicPeriod"/>
            </a:pPr>
            <a:r>
              <a:rPr lang="en-US" sz="2302" b="1" spc="25" dirty="0">
                <a:solidFill>
                  <a:srgbClr val="512E1A"/>
                </a:solidFill>
                <a:latin typeface="Roboto Bold"/>
                <a:ea typeface="Roboto Bold"/>
                <a:cs typeface="Roboto Bold"/>
                <a:sym typeface="Roboto Bold"/>
              </a:rPr>
              <a:t>Preprocessing</a:t>
            </a:r>
            <a:r>
              <a:rPr lang="en-US" sz="2302" spc="25" dirty="0">
                <a:solidFill>
                  <a:srgbClr val="512E1A"/>
                </a:solidFill>
                <a:latin typeface="Roboto"/>
                <a:ea typeface="Roboto"/>
                <a:cs typeface="Roboto"/>
                <a:sym typeface="Roboto"/>
              </a:rPr>
              <a:t>:</a:t>
            </a:r>
          </a:p>
          <a:p>
            <a:pPr marL="994022" lvl="2" indent="-331341" algn="l">
              <a:lnSpc>
                <a:spcPts val="3222"/>
              </a:lnSpc>
              <a:buFont typeface="Arial"/>
              <a:buChar char="⚬"/>
            </a:pPr>
            <a:r>
              <a:rPr lang="en-US" sz="2302" spc="25" dirty="0">
                <a:solidFill>
                  <a:srgbClr val="512E1A"/>
                </a:solidFill>
                <a:latin typeface="Roboto"/>
                <a:ea typeface="Roboto"/>
                <a:cs typeface="Roboto"/>
                <a:sym typeface="Roboto"/>
              </a:rPr>
              <a:t>Hair removal using </a:t>
            </a:r>
            <a:r>
              <a:rPr lang="en-US" sz="2302" spc="25" dirty="0" err="1">
                <a:solidFill>
                  <a:srgbClr val="512E1A"/>
                </a:solidFill>
                <a:latin typeface="Roboto"/>
                <a:ea typeface="Roboto"/>
                <a:cs typeface="Roboto"/>
                <a:sym typeface="Roboto"/>
              </a:rPr>
              <a:t>DullRazor</a:t>
            </a:r>
            <a:r>
              <a:rPr lang="en-US" sz="2302" spc="25" dirty="0">
                <a:solidFill>
                  <a:srgbClr val="512E1A"/>
                </a:solidFill>
                <a:latin typeface="Roboto"/>
                <a:ea typeface="Roboto"/>
                <a:cs typeface="Roboto"/>
                <a:sym typeface="Roboto"/>
              </a:rPr>
              <a:t>.</a:t>
            </a:r>
          </a:p>
          <a:p>
            <a:pPr marL="994022" lvl="2" indent="-331341" algn="l">
              <a:lnSpc>
                <a:spcPts val="3222"/>
              </a:lnSpc>
              <a:buFont typeface="Arial"/>
              <a:buChar char="⚬"/>
            </a:pPr>
            <a:r>
              <a:rPr lang="en-US" sz="2302" spc="25" dirty="0" err="1">
                <a:solidFill>
                  <a:srgbClr val="512E1A"/>
                </a:solidFill>
                <a:latin typeface="Roboto"/>
                <a:ea typeface="Roboto"/>
                <a:cs typeface="Roboto"/>
                <a:sym typeface="Roboto"/>
              </a:rPr>
              <a:t>MinRGB</a:t>
            </a:r>
            <a:r>
              <a:rPr lang="en-US" sz="2302" spc="25" dirty="0">
                <a:solidFill>
                  <a:srgbClr val="512E1A"/>
                </a:solidFill>
                <a:latin typeface="Roboto"/>
                <a:ea typeface="Roboto"/>
                <a:cs typeface="Roboto"/>
                <a:sym typeface="Roboto"/>
              </a:rPr>
              <a:t> conversion for illumination correction.</a:t>
            </a:r>
          </a:p>
          <a:p>
            <a:pPr marL="994022" lvl="2" indent="-331341" algn="l">
              <a:lnSpc>
                <a:spcPts val="3222"/>
              </a:lnSpc>
              <a:buFont typeface="Arial"/>
              <a:buChar char="⚬"/>
            </a:pPr>
            <a:r>
              <a:rPr lang="en-US" sz="2302" spc="25" dirty="0">
                <a:solidFill>
                  <a:srgbClr val="512E1A"/>
                </a:solidFill>
                <a:latin typeface="Roboto"/>
                <a:ea typeface="Roboto"/>
                <a:cs typeface="Roboto"/>
                <a:sym typeface="Roboto"/>
              </a:rPr>
              <a:t>Adaptive threshold initialization.</a:t>
            </a:r>
          </a:p>
          <a:p>
            <a:pPr marL="497011" lvl="1" indent="-248505" algn="l">
              <a:lnSpc>
                <a:spcPts val="3222"/>
              </a:lnSpc>
              <a:buAutoNum type="arabicPeriod"/>
            </a:pPr>
            <a:r>
              <a:rPr lang="en-US" sz="2302" b="1" spc="25" dirty="0">
                <a:solidFill>
                  <a:srgbClr val="512E1A"/>
                </a:solidFill>
                <a:latin typeface="Roboto Bold"/>
                <a:ea typeface="Roboto Bold"/>
                <a:cs typeface="Roboto Bold"/>
                <a:sym typeface="Roboto Bold"/>
              </a:rPr>
              <a:t>Segmentation</a:t>
            </a:r>
            <a:r>
              <a:rPr lang="en-US" sz="2302" spc="25" dirty="0">
                <a:solidFill>
                  <a:srgbClr val="512E1A"/>
                </a:solidFill>
                <a:latin typeface="Roboto"/>
                <a:ea typeface="Roboto"/>
                <a:cs typeface="Roboto"/>
                <a:sym typeface="Roboto"/>
              </a:rPr>
              <a:t>:</a:t>
            </a:r>
          </a:p>
          <a:p>
            <a:pPr marL="994022" lvl="2" indent="-331341" algn="l">
              <a:lnSpc>
                <a:spcPts val="3222"/>
              </a:lnSpc>
              <a:buFont typeface="Arial"/>
              <a:buChar char="⚬"/>
            </a:pPr>
            <a:r>
              <a:rPr lang="en-US" sz="2302" spc="25" dirty="0">
                <a:solidFill>
                  <a:srgbClr val="512E1A"/>
                </a:solidFill>
                <a:latin typeface="Roboto"/>
                <a:ea typeface="Roboto"/>
                <a:cs typeface="Roboto"/>
                <a:sym typeface="Roboto"/>
              </a:rPr>
              <a:t>KL–LS active contour model to refine lesion boundaries using intensity PDFs.</a:t>
            </a:r>
          </a:p>
          <a:p>
            <a:pPr marL="497011" lvl="1" indent="-248505" algn="l">
              <a:lnSpc>
                <a:spcPts val="3222"/>
              </a:lnSpc>
              <a:buAutoNum type="arabicPeriod"/>
            </a:pPr>
            <a:r>
              <a:rPr lang="en-US" sz="2302" b="1" spc="25" dirty="0">
                <a:solidFill>
                  <a:srgbClr val="512E1A"/>
                </a:solidFill>
                <a:latin typeface="Roboto Bold"/>
                <a:ea typeface="Roboto Bold"/>
                <a:cs typeface="Roboto Bold"/>
                <a:sym typeface="Roboto Bold"/>
              </a:rPr>
              <a:t>Feature Extraction:</a:t>
            </a:r>
          </a:p>
          <a:p>
            <a:pPr marL="994022" lvl="2" indent="-331341" algn="l">
              <a:lnSpc>
                <a:spcPts val="3222"/>
              </a:lnSpc>
              <a:buFont typeface="Arial"/>
              <a:buChar char="⚬"/>
            </a:pPr>
            <a:r>
              <a:rPr lang="en-US" sz="2302" spc="25" dirty="0">
                <a:solidFill>
                  <a:srgbClr val="512E1A"/>
                </a:solidFill>
                <a:latin typeface="Roboto"/>
                <a:ea typeface="Roboto"/>
                <a:cs typeface="Roboto"/>
                <a:sym typeface="Roboto"/>
              </a:rPr>
              <a:t>Multi-scale LBP for textural analysis.</a:t>
            </a:r>
          </a:p>
          <a:p>
            <a:pPr marL="994022" lvl="2" indent="-331341" algn="l">
              <a:lnSpc>
                <a:spcPts val="3222"/>
              </a:lnSpc>
              <a:buFont typeface="Arial"/>
              <a:buChar char="⚬"/>
            </a:pPr>
            <a:r>
              <a:rPr lang="en-US" sz="2302" spc="25" dirty="0">
                <a:solidFill>
                  <a:srgbClr val="512E1A"/>
                </a:solidFill>
                <a:latin typeface="Roboto"/>
                <a:ea typeface="Roboto"/>
                <a:cs typeface="Roboto"/>
                <a:sym typeface="Roboto"/>
              </a:rPr>
              <a:t>Laplacian Contrast for edge sharpness.</a:t>
            </a:r>
          </a:p>
          <a:p>
            <a:pPr marL="994022" lvl="2" indent="-331341" algn="l">
              <a:lnSpc>
                <a:spcPts val="3222"/>
              </a:lnSpc>
              <a:buFont typeface="Arial"/>
              <a:buChar char="⚬"/>
            </a:pPr>
            <a:r>
              <a:rPr lang="en-US" sz="2302" spc="25" dirty="0">
                <a:solidFill>
                  <a:srgbClr val="512E1A"/>
                </a:solidFill>
                <a:latin typeface="Roboto"/>
                <a:ea typeface="Roboto"/>
                <a:cs typeface="Roboto"/>
                <a:sym typeface="Roboto"/>
              </a:rPr>
              <a:t>Distance Transform for shape irregularities.</a:t>
            </a:r>
          </a:p>
          <a:p>
            <a:pPr marL="994022" lvl="2" indent="-331341" algn="l">
              <a:lnSpc>
                <a:spcPts val="3222"/>
              </a:lnSpc>
              <a:buFont typeface="Arial"/>
              <a:buChar char="⚬"/>
            </a:pPr>
            <a:r>
              <a:rPr lang="en-US" sz="2302" spc="25" dirty="0">
                <a:solidFill>
                  <a:srgbClr val="512E1A"/>
                </a:solidFill>
                <a:latin typeface="Roboto"/>
                <a:ea typeface="Roboto"/>
                <a:cs typeface="Roboto"/>
                <a:sym typeface="Roboto"/>
              </a:rPr>
              <a:t>Entropy for texture randomness.</a:t>
            </a:r>
          </a:p>
          <a:p>
            <a:pPr marL="994022" lvl="2" indent="-331341" algn="l">
              <a:lnSpc>
                <a:spcPts val="3222"/>
              </a:lnSpc>
              <a:buFont typeface="Arial"/>
              <a:buChar char="⚬"/>
            </a:pPr>
            <a:r>
              <a:rPr lang="en-US" sz="2302" spc="25" dirty="0">
                <a:solidFill>
                  <a:srgbClr val="512E1A"/>
                </a:solidFill>
                <a:latin typeface="Roboto"/>
                <a:ea typeface="Roboto"/>
                <a:cs typeface="Roboto"/>
                <a:sym typeface="Roboto"/>
              </a:rPr>
              <a:t>Intensity Ratio for color contrast.</a:t>
            </a:r>
          </a:p>
          <a:p>
            <a:pPr marL="497011" lvl="1" indent="-248505" algn="l">
              <a:lnSpc>
                <a:spcPts val="3222"/>
              </a:lnSpc>
              <a:buAutoNum type="arabicPeriod"/>
            </a:pPr>
            <a:r>
              <a:rPr lang="en-US" sz="2302" b="1" spc="25" dirty="0">
                <a:solidFill>
                  <a:srgbClr val="512E1A"/>
                </a:solidFill>
                <a:latin typeface="Roboto Bold"/>
                <a:ea typeface="Roboto Bold"/>
                <a:cs typeface="Roboto Bold"/>
                <a:sym typeface="Roboto Bold"/>
              </a:rPr>
              <a:t>Classification:</a:t>
            </a:r>
          </a:p>
          <a:p>
            <a:pPr marL="994022" lvl="2" indent="-331341" algn="l">
              <a:lnSpc>
                <a:spcPts val="3222"/>
              </a:lnSpc>
              <a:buFont typeface="Arial"/>
              <a:buChar char="⚬"/>
            </a:pPr>
            <a:r>
              <a:rPr lang="en-US" sz="2302" spc="25" dirty="0">
                <a:solidFill>
                  <a:srgbClr val="512E1A"/>
                </a:solidFill>
                <a:latin typeface="Roboto"/>
                <a:ea typeface="Roboto"/>
                <a:cs typeface="Roboto"/>
                <a:sym typeface="Roboto"/>
              </a:rPr>
              <a:t>Ensemble learning using Gradient Boosting and Extra Trees classifiers.</a:t>
            </a:r>
          </a:p>
          <a:p>
            <a:pPr algn="l">
              <a:lnSpc>
                <a:spcPts val="3222"/>
              </a:lnSpc>
            </a:pPr>
            <a:endParaRPr lang="en-US" sz="2302" spc="25" dirty="0">
              <a:solidFill>
                <a:srgbClr val="512E1A"/>
              </a:solidFill>
              <a:latin typeface="Roboto"/>
              <a:ea typeface="Roboto"/>
              <a:cs typeface="Roboto"/>
              <a:sym typeface="Roboto"/>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EF6F3"/>
        </a:solidFill>
        <a:effectLst/>
      </p:bgPr>
    </p:bg>
    <p:spTree>
      <p:nvGrpSpPr>
        <p:cNvPr id="1" name=""/>
        <p:cNvGrpSpPr/>
        <p:nvPr/>
      </p:nvGrpSpPr>
      <p:grpSpPr>
        <a:xfrm>
          <a:off x="0" y="0"/>
          <a:ext cx="0" cy="0"/>
          <a:chOff x="0" y="0"/>
          <a:chExt cx="0" cy="0"/>
        </a:xfrm>
      </p:grpSpPr>
      <p:sp>
        <p:nvSpPr>
          <p:cNvPr id="2" name="TextBox 2"/>
          <p:cNvSpPr txBox="1"/>
          <p:nvPr/>
        </p:nvSpPr>
        <p:spPr>
          <a:xfrm>
            <a:off x="246014" y="747152"/>
            <a:ext cx="9349503" cy="885799"/>
          </a:xfrm>
          <a:prstGeom prst="rect">
            <a:avLst/>
          </a:prstGeom>
        </p:spPr>
        <p:txBody>
          <a:bodyPr lIns="0" tIns="0" rIns="0" bIns="0" rtlCol="0" anchor="t">
            <a:spAutoFit/>
          </a:bodyPr>
          <a:lstStyle/>
          <a:p>
            <a:pPr algn="ctr">
              <a:lnSpc>
                <a:spcPts val="6641"/>
              </a:lnSpc>
            </a:pPr>
            <a:r>
              <a:rPr lang="en-US" sz="6846">
                <a:solidFill>
                  <a:srgbClr val="D75443"/>
                </a:solidFill>
                <a:latin typeface="DM Sans"/>
                <a:ea typeface="DM Sans"/>
                <a:cs typeface="DM Sans"/>
                <a:sym typeface="DM Sans"/>
              </a:rPr>
              <a:t>EXPERIMENTAL SETUP</a:t>
            </a:r>
          </a:p>
        </p:txBody>
      </p:sp>
      <p:sp>
        <p:nvSpPr>
          <p:cNvPr id="3" name="Freeform 3"/>
          <p:cNvSpPr/>
          <p:nvPr/>
        </p:nvSpPr>
        <p:spPr>
          <a:xfrm>
            <a:off x="322422" y="5924773"/>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r:embed="rId2">
              <a:alphaModFix amt="12000"/>
              <a:extLst>
                <a:ext uri="{96DAC541-7B7A-43D3-8B79-37D633B846F1}">
                  <asvg:svgBlip xmlns:asvg="http://schemas.microsoft.com/office/drawing/2016/SVG/main" r:embed="rId3"/>
                </a:ext>
              </a:extLst>
            </a:blip>
            <a:stretch>
              <a:fillRect/>
            </a:stretch>
          </a:blipFill>
        </p:spPr>
        <p:txBody>
          <a:bodyPr/>
          <a:lstStyle/>
          <a:p>
            <a:endParaRPr lang="en-IN"/>
          </a:p>
        </p:txBody>
      </p:sp>
      <p:sp>
        <p:nvSpPr>
          <p:cNvPr id="5" name="Freeform 5"/>
          <p:cNvSpPr/>
          <p:nvPr/>
        </p:nvSpPr>
        <p:spPr>
          <a:xfrm>
            <a:off x="11703656" y="6105405"/>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r:embed="rId2">
              <a:alphaModFix amt="12000"/>
              <a:extLst>
                <a:ext uri="{96DAC541-7B7A-43D3-8B79-37D633B846F1}">
                  <asvg:svgBlip xmlns:asvg="http://schemas.microsoft.com/office/drawing/2016/SVG/main" r:embed="rId3"/>
                </a:ext>
              </a:extLst>
            </a:blip>
            <a:stretch>
              <a:fillRect/>
            </a:stretch>
          </a:blipFill>
        </p:spPr>
        <p:txBody>
          <a:bodyPr/>
          <a:lstStyle/>
          <a:p>
            <a:endParaRPr lang="en-IN"/>
          </a:p>
        </p:txBody>
      </p:sp>
      <p:sp>
        <p:nvSpPr>
          <p:cNvPr id="7" name="Freeform 7"/>
          <p:cNvSpPr/>
          <p:nvPr/>
        </p:nvSpPr>
        <p:spPr>
          <a:xfrm>
            <a:off x="12434180" y="-933554"/>
            <a:ext cx="5853820" cy="5619667"/>
          </a:xfrm>
          <a:custGeom>
            <a:avLst/>
            <a:gdLst/>
            <a:ahLst/>
            <a:cxnLst/>
            <a:rect l="l" t="t" r="r" b="b"/>
            <a:pathLst>
              <a:path w="5853820" h="5619667">
                <a:moveTo>
                  <a:pt x="0" y="0"/>
                </a:moveTo>
                <a:lnTo>
                  <a:pt x="5853820" y="0"/>
                </a:lnTo>
                <a:lnTo>
                  <a:pt x="5853820" y="5619668"/>
                </a:lnTo>
                <a:lnTo>
                  <a:pt x="0" y="5619668"/>
                </a:lnTo>
                <a:lnTo>
                  <a:pt x="0" y="0"/>
                </a:lnTo>
                <a:close/>
              </a:path>
            </a:pathLst>
          </a:custGeom>
          <a:blipFill>
            <a:blip r:embed="rId4">
              <a:alphaModFix amt="16000"/>
              <a:extLst>
                <a:ext uri="{96DAC541-7B7A-43D3-8B79-37D633B846F1}">
                  <asvg:svgBlip xmlns:asvg="http://schemas.microsoft.com/office/drawing/2016/SVG/main" r:embed="rId5"/>
                </a:ext>
              </a:extLst>
            </a:blip>
            <a:stretch>
              <a:fillRect/>
            </a:stretch>
          </a:blipFill>
        </p:spPr>
        <p:txBody>
          <a:bodyPr/>
          <a:lstStyle/>
          <a:p>
            <a:endParaRPr lang="en-IN"/>
          </a:p>
        </p:txBody>
      </p:sp>
      <p:sp>
        <p:nvSpPr>
          <p:cNvPr id="8" name="TextBox 8"/>
          <p:cNvSpPr txBox="1"/>
          <p:nvPr/>
        </p:nvSpPr>
        <p:spPr>
          <a:xfrm>
            <a:off x="794792" y="2304827"/>
            <a:ext cx="16698416" cy="5857978"/>
          </a:xfrm>
          <a:prstGeom prst="rect">
            <a:avLst/>
          </a:prstGeom>
        </p:spPr>
        <p:txBody>
          <a:bodyPr lIns="0" tIns="0" rIns="0" bIns="0" rtlCol="0" anchor="t">
            <a:spAutoFit/>
          </a:bodyPr>
          <a:lstStyle/>
          <a:p>
            <a:pPr algn="l">
              <a:lnSpc>
                <a:spcPts val="3144"/>
              </a:lnSpc>
            </a:pPr>
            <a:r>
              <a:rPr lang="en-US" sz="2245" b="1" spc="24" dirty="0">
                <a:solidFill>
                  <a:srgbClr val="512E1A"/>
                </a:solidFill>
                <a:latin typeface="Roboto Bold"/>
                <a:ea typeface="Roboto Bold"/>
                <a:cs typeface="Roboto Bold"/>
                <a:sym typeface="Roboto Bold"/>
              </a:rPr>
              <a:t>Datasets Used:</a:t>
            </a:r>
          </a:p>
          <a:p>
            <a:pPr marL="484896" lvl="1" indent="-242448" algn="l">
              <a:lnSpc>
                <a:spcPts val="3144"/>
              </a:lnSpc>
              <a:buFont typeface="Arial"/>
              <a:buChar char="•"/>
            </a:pPr>
            <a:r>
              <a:rPr lang="en-US" sz="2245" spc="24" dirty="0">
                <a:solidFill>
                  <a:srgbClr val="512E1A"/>
                </a:solidFill>
                <a:latin typeface="Roboto"/>
                <a:ea typeface="Roboto"/>
                <a:cs typeface="Roboto"/>
                <a:sym typeface="Roboto"/>
              </a:rPr>
              <a:t>PH2 Dataset: 200 dermoscopic images with labeled classes (common nevi, atypical nevi, melanoma).</a:t>
            </a:r>
          </a:p>
          <a:p>
            <a:pPr marL="484896" lvl="1" indent="-242448" algn="l">
              <a:lnSpc>
                <a:spcPts val="3144"/>
              </a:lnSpc>
              <a:buFont typeface="Arial"/>
              <a:buChar char="•"/>
            </a:pPr>
            <a:r>
              <a:rPr lang="en-US" sz="2245" spc="24" dirty="0">
                <a:solidFill>
                  <a:srgbClr val="512E1A"/>
                </a:solidFill>
                <a:latin typeface="Roboto"/>
                <a:ea typeface="Roboto"/>
                <a:cs typeface="Roboto"/>
                <a:sym typeface="Roboto"/>
              </a:rPr>
              <a:t>ISIC Dataset: Diverse real-world lesion images from multiple acquisition centers.</a:t>
            </a:r>
          </a:p>
          <a:p>
            <a:pPr algn="l">
              <a:lnSpc>
                <a:spcPts val="3144"/>
              </a:lnSpc>
            </a:pPr>
            <a:endParaRPr lang="en-US" sz="2245" spc="24" dirty="0">
              <a:solidFill>
                <a:srgbClr val="512E1A"/>
              </a:solidFill>
              <a:latin typeface="Roboto"/>
              <a:ea typeface="Roboto"/>
              <a:cs typeface="Roboto"/>
              <a:sym typeface="Roboto"/>
            </a:endParaRPr>
          </a:p>
          <a:p>
            <a:pPr algn="l">
              <a:lnSpc>
                <a:spcPts val="3144"/>
              </a:lnSpc>
            </a:pPr>
            <a:endParaRPr lang="en-US" sz="2245" spc="24" dirty="0">
              <a:solidFill>
                <a:srgbClr val="512E1A"/>
              </a:solidFill>
              <a:latin typeface="Roboto"/>
              <a:ea typeface="Roboto"/>
              <a:cs typeface="Roboto"/>
              <a:sym typeface="Roboto"/>
            </a:endParaRPr>
          </a:p>
          <a:p>
            <a:pPr algn="l">
              <a:lnSpc>
                <a:spcPts val="3144"/>
              </a:lnSpc>
            </a:pPr>
            <a:r>
              <a:rPr lang="en-US" sz="2245" b="1" spc="24" dirty="0">
                <a:solidFill>
                  <a:srgbClr val="512E1A"/>
                </a:solidFill>
                <a:latin typeface="Roboto Bold"/>
                <a:ea typeface="Roboto Bold"/>
                <a:cs typeface="Roboto Bold"/>
                <a:sym typeface="Roboto Bold"/>
              </a:rPr>
              <a:t>Tools &amp; Libraries:</a:t>
            </a:r>
          </a:p>
          <a:p>
            <a:pPr algn="l">
              <a:lnSpc>
                <a:spcPts val="3144"/>
              </a:lnSpc>
            </a:pPr>
            <a:r>
              <a:rPr lang="en-US" sz="2245" spc="24" dirty="0">
                <a:solidFill>
                  <a:srgbClr val="512E1A"/>
                </a:solidFill>
                <a:latin typeface="Roboto"/>
                <a:ea typeface="Roboto"/>
                <a:cs typeface="Roboto"/>
                <a:sym typeface="Roboto"/>
              </a:rPr>
              <a:t>The system was implemented in Python, utilizing libraries such as OpenCV for image preprocessing and segmentation, scikit-learn for ensemble classification (Gradient Boosting and Extra Trees), NumPy and pandas for numerical computation and data management, and matplotlib and tqdm for visualization and performance tracking.</a:t>
            </a:r>
          </a:p>
          <a:p>
            <a:pPr algn="l">
              <a:lnSpc>
                <a:spcPts val="3144"/>
              </a:lnSpc>
            </a:pPr>
            <a:endParaRPr lang="en-US" sz="2245" spc="24" dirty="0">
              <a:solidFill>
                <a:srgbClr val="512E1A"/>
              </a:solidFill>
              <a:latin typeface="Roboto"/>
              <a:ea typeface="Roboto"/>
              <a:cs typeface="Roboto"/>
              <a:sym typeface="Roboto"/>
            </a:endParaRPr>
          </a:p>
          <a:p>
            <a:pPr algn="l">
              <a:lnSpc>
                <a:spcPts val="3144"/>
              </a:lnSpc>
            </a:pPr>
            <a:r>
              <a:rPr lang="en-US" sz="2245" b="1" spc="24" dirty="0">
                <a:solidFill>
                  <a:srgbClr val="512E1A"/>
                </a:solidFill>
                <a:latin typeface="Roboto Bold"/>
                <a:ea typeface="Roboto Bold"/>
                <a:cs typeface="Roboto Bold"/>
                <a:sym typeface="Roboto Bold"/>
              </a:rPr>
              <a:t>Evaluation Metrics:</a:t>
            </a:r>
          </a:p>
          <a:p>
            <a:pPr marL="484896" lvl="1" indent="-242448" algn="l">
              <a:lnSpc>
                <a:spcPts val="3144"/>
              </a:lnSpc>
              <a:buFont typeface="Arial"/>
              <a:buChar char="•"/>
            </a:pPr>
            <a:r>
              <a:rPr lang="en-US" sz="2245" spc="24" dirty="0">
                <a:solidFill>
                  <a:srgbClr val="512E1A"/>
                </a:solidFill>
                <a:latin typeface="Roboto"/>
                <a:ea typeface="Roboto"/>
                <a:cs typeface="Roboto"/>
                <a:sym typeface="Roboto"/>
              </a:rPr>
              <a:t> Accuracy (%) and ROC (%) metrics to measure classification efficiency and discriminative capability.</a:t>
            </a:r>
          </a:p>
          <a:p>
            <a:pPr marL="484896" lvl="1" indent="-242448" algn="l">
              <a:lnSpc>
                <a:spcPts val="3144"/>
              </a:lnSpc>
              <a:buFont typeface="Arial"/>
              <a:buChar char="•"/>
            </a:pPr>
            <a:r>
              <a:rPr lang="en-US" sz="2245" spc="24" dirty="0">
                <a:solidFill>
                  <a:srgbClr val="512E1A"/>
                </a:solidFill>
                <a:latin typeface="Roboto"/>
                <a:ea typeface="Roboto"/>
                <a:cs typeface="Roboto"/>
                <a:sym typeface="Roboto"/>
              </a:rPr>
              <a:t>visual comparisons of segmentation masks, feature maps, and periphery analysis were performed to qualitatively assess the performance.</a:t>
            </a:r>
          </a:p>
          <a:p>
            <a:pPr algn="l">
              <a:lnSpc>
                <a:spcPts val="3144"/>
              </a:lnSpc>
            </a:pPr>
            <a:endParaRPr lang="en-US" sz="2245" spc="24" dirty="0">
              <a:solidFill>
                <a:srgbClr val="512E1A"/>
              </a:solidFill>
              <a:latin typeface="Roboto"/>
              <a:ea typeface="Roboto"/>
              <a:cs typeface="Roboto"/>
              <a:sym typeface="Roboto"/>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684334" y="898105"/>
            <a:ext cx="15967941" cy="885799"/>
          </a:xfrm>
          <a:prstGeom prst="rect">
            <a:avLst/>
          </a:prstGeom>
        </p:spPr>
        <p:txBody>
          <a:bodyPr lIns="0" tIns="0" rIns="0" bIns="0" rtlCol="0" anchor="t">
            <a:spAutoFit/>
          </a:bodyPr>
          <a:lstStyle/>
          <a:p>
            <a:pPr algn="ctr">
              <a:lnSpc>
                <a:spcPts val="6641"/>
              </a:lnSpc>
            </a:pPr>
            <a:r>
              <a:rPr lang="en-US" sz="6846">
                <a:solidFill>
                  <a:srgbClr val="D75443"/>
                </a:solidFill>
                <a:latin typeface="DM Sans"/>
                <a:ea typeface="DM Sans"/>
                <a:cs typeface="DM Sans"/>
                <a:sym typeface="DM Sans"/>
              </a:rPr>
              <a:t>RESULTS AND VISUAL ANALYSIS</a:t>
            </a:r>
          </a:p>
        </p:txBody>
      </p:sp>
      <p:sp>
        <p:nvSpPr>
          <p:cNvPr id="4" name="Freeform 4"/>
          <p:cNvSpPr/>
          <p:nvPr/>
        </p:nvSpPr>
        <p:spPr>
          <a:xfrm>
            <a:off x="14171998" y="5786048"/>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r:embed="rId2">
              <a:alphaModFix amt="12000"/>
              <a:extLst>
                <a:ext uri="{96DAC541-7B7A-43D3-8B79-37D633B846F1}">
                  <asvg:svgBlip xmlns:asvg="http://schemas.microsoft.com/office/drawing/2016/SVG/main" r:embed="rId3"/>
                </a:ext>
              </a:extLst>
            </a:blip>
            <a:stretch>
              <a:fillRect/>
            </a:stretch>
          </a:blipFill>
        </p:spPr>
        <p:txBody>
          <a:bodyPr/>
          <a:lstStyle/>
          <a:p>
            <a:endParaRPr lang="en-IN"/>
          </a:p>
        </p:txBody>
      </p:sp>
      <p:sp>
        <p:nvSpPr>
          <p:cNvPr id="5" name="Freeform 5"/>
          <p:cNvSpPr/>
          <p:nvPr/>
        </p:nvSpPr>
        <p:spPr>
          <a:xfrm>
            <a:off x="13039578" y="-1040905"/>
            <a:ext cx="5853820" cy="5619667"/>
          </a:xfrm>
          <a:custGeom>
            <a:avLst/>
            <a:gdLst/>
            <a:ahLst/>
            <a:cxnLst/>
            <a:rect l="l" t="t" r="r" b="b"/>
            <a:pathLst>
              <a:path w="5853820" h="5619667">
                <a:moveTo>
                  <a:pt x="0" y="0"/>
                </a:moveTo>
                <a:lnTo>
                  <a:pt x="5853820" y="0"/>
                </a:lnTo>
                <a:lnTo>
                  <a:pt x="5853820" y="5619668"/>
                </a:lnTo>
                <a:lnTo>
                  <a:pt x="0" y="5619668"/>
                </a:lnTo>
                <a:lnTo>
                  <a:pt x="0" y="0"/>
                </a:lnTo>
                <a:close/>
              </a:path>
            </a:pathLst>
          </a:custGeom>
          <a:blipFill>
            <a:blip r:embed="rId4">
              <a:alphaModFix amt="8999"/>
              <a:extLst>
                <a:ext uri="{96DAC541-7B7A-43D3-8B79-37D633B846F1}">
                  <asvg:svgBlip xmlns:asvg="http://schemas.microsoft.com/office/drawing/2016/SVG/main" r:embed="rId5"/>
                </a:ext>
              </a:extLst>
            </a:blip>
            <a:stretch>
              <a:fillRect/>
            </a:stretch>
          </a:blipFill>
        </p:spPr>
        <p:txBody>
          <a:bodyPr/>
          <a:lstStyle/>
          <a:p>
            <a:endParaRPr lang="en-IN"/>
          </a:p>
        </p:txBody>
      </p:sp>
      <p:sp>
        <p:nvSpPr>
          <p:cNvPr id="6" name="Freeform 6"/>
          <p:cNvSpPr/>
          <p:nvPr/>
        </p:nvSpPr>
        <p:spPr>
          <a:xfrm>
            <a:off x="666372" y="3168007"/>
            <a:ext cx="2057400" cy="1478098"/>
          </a:xfrm>
          <a:custGeom>
            <a:avLst/>
            <a:gdLst/>
            <a:ahLst/>
            <a:cxnLst/>
            <a:rect l="l" t="t" r="r" b="b"/>
            <a:pathLst>
              <a:path w="2057400" h="1478098">
                <a:moveTo>
                  <a:pt x="0" y="0"/>
                </a:moveTo>
                <a:lnTo>
                  <a:pt x="2057400" y="0"/>
                </a:lnTo>
                <a:lnTo>
                  <a:pt x="2057400" y="1478098"/>
                </a:lnTo>
                <a:lnTo>
                  <a:pt x="0" y="1478098"/>
                </a:lnTo>
                <a:lnTo>
                  <a:pt x="0" y="0"/>
                </a:lnTo>
                <a:close/>
              </a:path>
            </a:pathLst>
          </a:custGeom>
          <a:blipFill>
            <a:blip r:embed="rId6"/>
            <a:stretch>
              <a:fillRect/>
            </a:stretch>
          </a:blipFill>
        </p:spPr>
        <p:txBody>
          <a:bodyPr/>
          <a:lstStyle/>
          <a:p>
            <a:endParaRPr lang="en-IN"/>
          </a:p>
        </p:txBody>
      </p:sp>
      <p:sp>
        <p:nvSpPr>
          <p:cNvPr id="7" name="Freeform 7"/>
          <p:cNvSpPr/>
          <p:nvPr/>
        </p:nvSpPr>
        <p:spPr>
          <a:xfrm>
            <a:off x="3667579" y="3168007"/>
            <a:ext cx="2019908" cy="1495823"/>
          </a:xfrm>
          <a:custGeom>
            <a:avLst/>
            <a:gdLst/>
            <a:ahLst/>
            <a:cxnLst/>
            <a:rect l="l" t="t" r="r" b="b"/>
            <a:pathLst>
              <a:path w="2019908" h="1495823">
                <a:moveTo>
                  <a:pt x="0" y="0"/>
                </a:moveTo>
                <a:lnTo>
                  <a:pt x="2019907" y="0"/>
                </a:lnTo>
                <a:lnTo>
                  <a:pt x="2019907" y="1495824"/>
                </a:lnTo>
                <a:lnTo>
                  <a:pt x="0" y="1495824"/>
                </a:lnTo>
                <a:lnTo>
                  <a:pt x="0" y="0"/>
                </a:lnTo>
                <a:close/>
              </a:path>
            </a:pathLst>
          </a:custGeom>
          <a:blipFill>
            <a:blip r:embed="rId7"/>
            <a:stretch>
              <a:fillRect/>
            </a:stretch>
          </a:blipFill>
        </p:spPr>
        <p:txBody>
          <a:bodyPr/>
          <a:lstStyle/>
          <a:p>
            <a:endParaRPr lang="en-IN"/>
          </a:p>
        </p:txBody>
      </p:sp>
      <p:sp>
        <p:nvSpPr>
          <p:cNvPr id="8" name="Freeform 8"/>
          <p:cNvSpPr/>
          <p:nvPr/>
        </p:nvSpPr>
        <p:spPr>
          <a:xfrm>
            <a:off x="7087661" y="3176870"/>
            <a:ext cx="1965001" cy="1478098"/>
          </a:xfrm>
          <a:custGeom>
            <a:avLst/>
            <a:gdLst/>
            <a:ahLst/>
            <a:cxnLst/>
            <a:rect l="l" t="t" r="r" b="b"/>
            <a:pathLst>
              <a:path w="1965001" h="1478098">
                <a:moveTo>
                  <a:pt x="0" y="0"/>
                </a:moveTo>
                <a:lnTo>
                  <a:pt x="1965001" y="0"/>
                </a:lnTo>
                <a:lnTo>
                  <a:pt x="1965001" y="1478098"/>
                </a:lnTo>
                <a:lnTo>
                  <a:pt x="0" y="1478098"/>
                </a:lnTo>
                <a:lnTo>
                  <a:pt x="0" y="0"/>
                </a:lnTo>
                <a:close/>
              </a:path>
            </a:pathLst>
          </a:custGeom>
          <a:blipFill>
            <a:blip r:embed="rId8"/>
            <a:stretch>
              <a:fillRect/>
            </a:stretch>
          </a:blipFill>
        </p:spPr>
        <p:txBody>
          <a:bodyPr/>
          <a:lstStyle/>
          <a:p>
            <a:endParaRPr lang="en-IN"/>
          </a:p>
        </p:txBody>
      </p:sp>
      <p:sp>
        <p:nvSpPr>
          <p:cNvPr id="9" name="Freeform 9"/>
          <p:cNvSpPr/>
          <p:nvPr/>
        </p:nvSpPr>
        <p:spPr>
          <a:xfrm>
            <a:off x="10168232" y="3090099"/>
            <a:ext cx="3235475" cy="1633915"/>
          </a:xfrm>
          <a:custGeom>
            <a:avLst/>
            <a:gdLst/>
            <a:ahLst/>
            <a:cxnLst/>
            <a:rect l="l" t="t" r="r" b="b"/>
            <a:pathLst>
              <a:path w="3235475" h="1633915">
                <a:moveTo>
                  <a:pt x="0" y="0"/>
                </a:moveTo>
                <a:lnTo>
                  <a:pt x="3235475" y="0"/>
                </a:lnTo>
                <a:lnTo>
                  <a:pt x="3235475" y="1633914"/>
                </a:lnTo>
                <a:lnTo>
                  <a:pt x="0" y="1633914"/>
                </a:lnTo>
                <a:lnTo>
                  <a:pt x="0" y="0"/>
                </a:lnTo>
                <a:close/>
              </a:path>
            </a:pathLst>
          </a:custGeom>
          <a:blipFill>
            <a:blip r:embed="rId9"/>
            <a:stretch>
              <a:fillRect/>
            </a:stretch>
          </a:blipFill>
        </p:spPr>
        <p:txBody>
          <a:bodyPr/>
          <a:lstStyle/>
          <a:p>
            <a:endParaRPr lang="en-IN"/>
          </a:p>
        </p:txBody>
      </p:sp>
      <p:sp>
        <p:nvSpPr>
          <p:cNvPr id="10" name="Freeform 10"/>
          <p:cNvSpPr/>
          <p:nvPr/>
        </p:nvSpPr>
        <p:spPr>
          <a:xfrm>
            <a:off x="6351629" y="5615233"/>
            <a:ext cx="10009010" cy="2082721"/>
          </a:xfrm>
          <a:custGeom>
            <a:avLst/>
            <a:gdLst/>
            <a:ahLst/>
            <a:cxnLst/>
            <a:rect l="l" t="t" r="r" b="b"/>
            <a:pathLst>
              <a:path w="10009010" h="2082721">
                <a:moveTo>
                  <a:pt x="0" y="0"/>
                </a:moveTo>
                <a:lnTo>
                  <a:pt x="10009010" y="0"/>
                </a:lnTo>
                <a:lnTo>
                  <a:pt x="10009010" y="2082721"/>
                </a:lnTo>
                <a:lnTo>
                  <a:pt x="0" y="2082721"/>
                </a:lnTo>
                <a:lnTo>
                  <a:pt x="0" y="0"/>
                </a:lnTo>
                <a:close/>
              </a:path>
            </a:pathLst>
          </a:custGeom>
          <a:blipFill>
            <a:blip r:embed="rId10"/>
            <a:stretch>
              <a:fillRect r="-2426"/>
            </a:stretch>
          </a:blipFill>
        </p:spPr>
        <p:txBody>
          <a:bodyPr/>
          <a:lstStyle/>
          <a:p>
            <a:endParaRPr lang="en-IN"/>
          </a:p>
        </p:txBody>
      </p:sp>
      <p:sp>
        <p:nvSpPr>
          <p:cNvPr id="11" name="Freeform 11"/>
          <p:cNvSpPr/>
          <p:nvPr/>
        </p:nvSpPr>
        <p:spPr>
          <a:xfrm>
            <a:off x="1225710" y="7840829"/>
            <a:ext cx="10251838" cy="2224265"/>
          </a:xfrm>
          <a:custGeom>
            <a:avLst/>
            <a:gdLst/>
            <a:ahLst/>
            <a:cxnLst/>
            <a:rect l="l" t="t" r="r" b="b"/>
            <a:pathLst>
              <a:path w="10251838" h="2224265">
                <a:moveTo>
                  <a:pt x="0" y="0"/>
                </a:moveTo>
                <a:lnTo>
                  <a:pt x="10251838" y="0"/>
                </a:lnTo>
                <a:lnTo>
                  <a:pt x="10251838" y="2224265"/>
                </a:lnTo>
                <a:lnTo>
                  <a:pt x="0" y="2224265"/>
                </a:lnTo>
                <a:lnTo>
                  <a:pt x="0" y="0"/>
                </a:lnTo>
                <a:close/>
              </a:path>
            </a:pathLst>
          </a:custGeom>
          <a:blipFill>
            <a:blip r:embed="rId11"/>
            <a:stretch>
              <a:fillRect/>
            </a:stretch>
          </a:blipFill>
        </p:spPr>
        <p:txBody>
          <a:bodyPr/>
          <a:lstStyle/>
          <a:p>
            <a:endParaRPr lang="en-IN"/>
          </a:p>
        </p:txBody>
      </p:sp>
      <p:sp>
        <p:nvSpPr>
          <p:cNvPr id="12" name="Freeform 12"/>
          <p:cNvSpPr/>
          <p:nvPr/>
        </p:nvSpPr>
        <p:spPr>
          <a:xfrm rot="5400000">
            <a:off x="12104107" y="8282840"/>
            <a:ext cx="521092" cy="1557611"/>
          </a:xfrm>
          <a:custGeom>
            <a:avLst/>
            <a:gdLst/>
            <a:ahLst/>
            <a:cxnLst/>
            <a:rect l="l" t="t" r="r" b="b"/>
            <a:pathLst>
              <a:path w="521092" h="1557611">
                <a:moveTo>
                  <a:pt x="0" y="0"/>
                </a:moveTo>
                <a:lnTo>
                  <a:pt x="521092" y="0"/>
                </a:lnTo>
                <a:lnTo>
                  <a:pt x="521092" y="1557611"/>
                </a:lnTo>
                <a:lnTo>
                  <a:pt x="0" y="1557611"/>
                </a:lnTo>
                <a:lnTo>
                  <a:pt x="0" y="0"/>
                </a:lnTo>
                <a:close/>
              </a:path>
            </a:pathLst>
          </a:custGeom>
          <a:blipFill>
            <a:blip r:embed="rId12">
              <a:extLst>
                <a:ext uri="{96DAC541-7B7A-43D3-8B79-37D633B846F1}">
                  <asvg:svgBlip xmlns:asvg="http://schemas.microsoft.com/office/drawing/2016/SVG/main" r:embed="rId13"/>
                </a:ext>
              </a:extLst>
            </a:blip>
            <a:stretch>
              <a:fillRect/>
            </a:stretch>
          </a:blipFill>
        </p:spPr>
        <p:txBody>
          <a:bodyPr/>
          <a:lstStyle/>
          <a:p>
            <a:endParaRPr lang="en-IN"/>
          </a:p>
        </p:txBody>
      </p:sp>
      <p:sp>
        <p:nvSpPr>
          <p:cNvPr id="13" name="TextBox 13"/>
          <p:cNvSpPr txBox="1"/>
          <p:nvPr/>
        </p:nvSpPr>
        <p:spPr>
          <a:xfrm>
            <a:off x="856717" y="4744772"/>
            <a:ext cx="14426890" cy="398728"/>
          </a:xfrm>
          <a:prstGeom prst="rect">
            <a:avLst/>
          </a:prstGeom>
        </p:spPr>
        <p:txBody>
          <a:bodyPr lIns="0" tIns="0" rIns="0" bIns="0" rtlCol="0" anchor="t">
            <a:spAutoFit/>
          </a:bodyPr>
          <a:lstStyle/>
          <a:p>
            <a:pPr algn="l">
              <a:lnSpc>
                <a:spcPts val="3222"/>
              </a:lnSpc>
            </a:pPr>
            <a:r>
              <a:rPr lang="en-US" sz="2302" spc="25">
                <a:solidFill>
                  <a:srgbClr val="512E1A"/>
                </a:solidFill>
                <a:latin typeface="Roboto"/>
                <a:ea typeface="Roboto"/>
                <a:cs typeface="Roboto"/>
                <a:sym typeface="Roboto"/>
              </a:rPr>
              <a:t>Original          →        Preprocessed    →    KL–LS Segmented  Mask    →   Feature Extraction</a:t>
            </a:r>
          </a:p>
        </p:txBody>
      </p:sp>
      <p:sp>
        <p:nvSpPr>
          <p:cNvPr id="14" name="TextBox 14"/>
          <p:cNvSpPr txBox="1"/>
          <p:nvPr/>
        </p:nvSpPr>
        <p:spPr>
          <a:xfrm>
            <a:off x="-892732" y="2334309"/>
            <a:ext cx="5175608" cy="381515"/>
          </a:xfrm>
          <a:prstGeom prst="rect">
            <a:avLst/>
          </a:prstGeom>
        </p:spPr>
        <p:txBody>
          <a:bodyPr wrap="square" lIns="0" tIns="0" rIns="0" bIns="0" rtlCol="0" anchor="t">
            <a:spAutoFit/>
          </a:bodyPr>
          <a:lstStyle/>
          <a:p>
            <a:pPr algn="ctr">
              <a:lnSpc>
                <a:spcPts val="3220"/>
              </a:lnSpc>
              <a:spcBef>
                <a:spcPct val="0"/>
              </a:spcBef>
            </a:pPr>
            <a:r>
              <a:rPr lang="en-US" sz="2300" b="1" dirty="0">
                <a:solidFill>
                  <a:srgbClr val="000000"/>
                </a:solidFill>
                <a:latin typeface="Roboto Bold"/>
                <a:ea typeface="Roboto Bold"/>
                <a:cs typeface="Roboto Bold"/>
                <a:sym typeface="Roboto Bold"/>
              </a:rPr>
              <a:t>Image Outputs:</a:t>
            </a:r>
          </a:p>
        </p:txBody>
      </p:sp>
      <p:sp>
        <p:nvSpPr>
          <p:cNvPr id="15" name="TextBox 15"/>
          <p:cNvSpPr txBox="1"/>
          <p:nvPr/>
        </p:nvSpPr>
        <p:spPr>
          <a:xfrm>
            <a:off x="304800" y="5422497"/>
            <a:ext cx="3479231" cy="381515"/>
          </a:xfrm>
          <a:prstGeom prst="rect">
            <a:avLst/>
          </a:prstGeom>
        </p:spPr>
        <p:txBody>
          <a:bodyPr wrap="square" lIns="0" tIns="0" rIns="0" bIns="0" rtlCol="0" anchor="t">
            <a:spAutoFit/>
          </a:bodyPr>
          <a:lstStyle/>
          <a:p>
            <a:pPr algn="ctr">
              <a:lnSpc>
                <a:spcPts val="3220"/>
              </a:lnSpc>
              <a:spcBef>
                <a:spcPct val="0"/>
              </a:spcBef>
            </a:pPr>
            <a:r>
              <a:rPr lang="en-US" sz="2300" b="1" dirty="0">
                <a:solidFill>
                  <a:srgbClr val="000000"/>
                </a:solidFill>
                <a:latin typeface="Roboto Bold"/>
                <a:ea typeface="Roboto Bold"/>
                <a:cs typeface="Roboto Bold"/>
                <a:sym typeface="Roboto Bold"/>
              </a:rPr>
              <a:t>Classification Metrics:</a:t>
            </a:r>
          </a:p>
        </p:txBody>
      </p:sp>
      <p:sp>
        <p:nvSpPr>
          <p:cNvPr id="16" name="TextBox 16"/>
          <p:cNvSpPr txBox="1"/>
          <p:nvPr/>
        </p:nvSpPr>
        <p:spPr>
          <a:xfrm>
            <a:off x="2245343" y="6217354"/>
            <a:ext cx="2165985" cy="523875"/>
          </a:xfrm>
          <a:prstGeom prst="rect">
            <a:avLst/>
          </a:prstGeom>
        </p:spPr>
        <p:txBody>
          <a:bodyPr lIns="0" tIns="0" rIns="0" bIns="0" rtlCol="0" anchor="t">
            <a:spAutoFit/>
          </a:bodyPr>
          <a:lstStyle/>
          <a:p>
            <a:pPr algn="ctr">
              <a:lnSpc>
                <a:spcPts val="4200"/>
              </a:lnSpc>
              <a:spcBef>
                <a:spcPct val="0"/>
              </a:spcBef>
            </a:pPr>
            <a:r>
              <a:rPr lang="en-US" sz="3000" dirty="0">
                <a:solidFill>
                  <a:srgbClr val="000000"/>
                </a:solidFill>
                <a:latin typeface="DM Sans"/>
                <a:ea typeface="DM Sans"/>
                <a:cs typeface="DM Sans"/>
                <a:sym typeface="DM Sans"/>
              </a:rPr>
              <a:t>PH2 Dataset</a:t>
            </a:r>
          </a:p>
        </p:txBody>
      </p:sp>
      <p:sp>
        <p:nvSpPr>
          <p:cNvPr id="17" name="TextBox 17"/>
          <p:cNvSpPr txBox="1"/>
          <p:nvPr/>
        </p:nvSpPr>
        <p:spPr>
          <a:xfrm>
            <a:off x="13403707" y="8734425"/>
            <a:ext cx="2140148" cy="523875"/>
          </a:xfrm>
          <a:prstGeom prst="rect">
            <a:avLst/>
          </a:prstGeom>
        </p:spPr>
        <p:txBody>
          <a:bodyPr lIns="0" tIns="0" rIns="0" bIns="0" rtlCol="0" anchor="t">
            <a:spAutoFit/>
          </a:bodyPr>
          <a:lstStyle/>
          <a:p>
            <a:pPr algn="ctr">
              <a:lnSpc>
                <a:spcPts val="4200"/>
              </a:lnSpc>
              <a:spcBef>
                <a:spcPct val="0"/>
              </a:spcBef>
            </a:pPr>
            <a:r>
              <a:rPr lang="en-US" sz="3000">
                <a:solidFill>
                  <a:srgbClr val="000000"/>
                </a:solidFill>
                <a:latin typeface="DM Sans"/>
                <a:ea typeface="DM Sans"/>
                <a:cs typeface="DM Sans"/>
                <a:sym typeface="DM Sans"/>
              </a:rPr>
              <a:t>ISIC Dataset</a:t>
            </a:r>
          </a:p>
        </p:txBody>
      </p:sp>
      <p:sp>
        <p:nvSpPr>
          <p:cNvPr id="18" name="Freeform 18"/>
          <p:cNvSpPr/>
          <p:nvPr/>
        </p:nvSpPr>
        <p:spPr>
          <a:xfrm rot="5400000">
            <a:off x="5120933" y="5617242"/>
            <a:ext cx="521092" cy="1557611"/>
          </a:xfrm>
          <a:custGeom>
            <a:avLst/>
            <a:gdLst/>
            <a:ahLst/>
            <a:cxnLst/>
            <a:rect l="l" t="t" r="r" b="b"/>
            <a:pathLst>
              <a:path w="521092" h="1557611">
                <a:moveTo>
                  <a:pt x="0" y="0"/>
                </a:moveTo>
                <a:lnTo>
                  <a:pt x="521091" y="0"/>
                </a:lnTo>
                <a:lnTo>
                  <a:pt x="521091" y="1557611"/>
                </a:lnTo>
                <a:lnTo>
                  <a:pt x="0" y="1557611"/>
                </a:lnTo>
                <a:lnTo>
                  <a:pt x="0" y="0"/>
                </a:lnTo>
                <a:close/>
              </a:path>
            </a:pathLst>
          </a:custGeom>
          <a:blipFill>
            <a:blip r:embed="rId12">
              <a:extLst>
                <a:ext uri="{96DAC541-7B7A-43D3-8B79-37D633B846F1}">
                  <asvg:svgBlip xmlns:asvg="http://schemas.microsoft.com/office/drawing/2016/SVG/main" r:embed="rId13"/>
                </a:ext>
              </a:extLst>
            </a:blip>
            <a:stretch>
              <a:fillRect/>
            </a:stretch>
          </a:blipFill>
        </p:spPr>
        <p:txBody>
          <a:bodyPr/>
          <a:lstStyle/>
          <a:p>
            <a:endParaRPr lang="en-IN"/>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EF6F3"/>
        </a:solidFill>
        <a:effectLst/>
      </p:bgPr>
    </p:bg>
    <p:spTree>
      <p:nvGrpSpPr>
        <p:cNvPr id="1" name=""/>
        <p:cNvGrpSpPr/>
        <p:nvPr/>
      </p:nvGrpSpPr>
      <p:grpSpPr>
        <a:xfrm>
          <a:off x="0" y="0"/>
          <a:ext cx="0" cy="0"/>
          <a:chOff x="0" y="0"/>
          <a:chExt cx="0" cy="0"/>
        </a:xfrm>
      </p:grpSpPr>
      <p:sp>
        <p:nvSpPr>
          <p:cNvPr id="2" name="TextBox 2"/>
          <p:cNvSpPr txBox="1"/>
          <p:nvPr/>
        </p:nvSpPr>
        <p:spPr>
          <a:xfrm>
            <a:off x="5871030" y="1185084"/>
            <a:ext cx="6545941" cy="885799"/>
          </a:xfrm>
          <a:prstGeom prst="rect">
            <a:avLst/>
          </a:prstGeom>
        </p:spPr>
        <p:txBody>
          <a:bodyPr lIns="0" tIns="0" rIns="0" bIns="0" rtlCol="0" anchor="t">
            <a:spAutoFit/>
          </a:bodyPr>
          <a:lstStyle/>
          <a:p>
            <a:pPr algn="ctr">
              <a:lnSpc>
                <a:spcPts val="6641"/>
              </a:lnSpc>
            </a:pPr>
            <a:r>
              <a:rPr lang="en-US" sz="6846">
                <a:solidFill>
                  <a:srgbClr val="D75443"/>
                </a:solidFill>
                <a:latin typeface="DM Sans"/>
                <a:ea typeface="DM Sans"/>
                <a:cs typeface="DM Sans"/>
                <a:sym typeface="DM Sans"/>
              </a:rPr>
              <a:t>Key Findings</a:t>
            </a:r>
          </a:p>
        </p:txBody>
      </p:sp>
      <p:sp>
        <p:nvSpPr>
          <p:cNvPr id="3" name="Freeform 3"/>
          <p:cNvSpPr/>
          <p:nvPr/>
        </p:nvSpPr>
        <p:spPr>
          <a:xfrm>
            <a:off x="304800" y="5601192"/>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r:embed="rId2">
              <a:alphaModFix amt="12000"/>
              <a:extLst>
                <a:ext uri="{96DAC541-7B7A-43D3-8B79-37D633B846F1}">
                  <asvg:svgBlip xmlns:asvg="http://schemas.microsoft.com/office/drawing/2016/SVG/main" r:embed="rId3"/>
                </a:ext>
              </a:extLst>
            </a:blip>
            <a:stretch>
              <a:fillRect/>
            </a:stretch>
          </a:blipFill>
        </p:spPr>
        <p:txBody>
          <a:bodyPr/>
          <a:lstStyle/>
          <a:p>
            <a:endParaRPr lang="en-IN"/>
          </a:p>
        </p:txBody>
      </p:sp>
      <p:sp>
        <p:nvSpPr>
          <p:cNvPr id="5" name="Freeform 5"/>
          <p:cNvSpPr/>
          <p:nvPr/>
        </p:nvSpPr>
        <p:spPr>
          <a:xfrm>
            <a:off x="12295209" y="5804599"/>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r:embed="rId2">
              <a:alphaModFix amt="12000"/>
              <a:extLst>
                <a:ext uri="{96DAC541-7B7A-43D3-8B79-37D633B846F1}">
                  <asvg:svgBlip xmlns:asvg="http://schemas.microsoft.com/office/drawing/2016/SVG/main" r:embed="rId3"/>
                </a:ext>
              </a:extLst>
            </a:blip>
            <a:stretch>
              <a:fillRect/>
            </a:stretch>
          </a:blipFill>
        </p:spPr>
        <p:txBody>
          <a:bodyPr/>
          <a:lstStyle/>
          <a:p>
            <a:endParaRPr lang="en-IN"/>
          </a:p>
        </p:txBody>
      </p:sp>
      <p:sp>
        <p:nvSpPr>
          <p:cNvPr id="7" name="Freeform 7"/>
          <p:cNvSpPr/>
          <p:nvPr/>
        </p:nvSpPr>
        <p:spPr>
          <a:xfrm>
            <a:off x="12801600" y="-738951"/>
            <a:ext cx="5853820" cy="5619667"/>
          </a:xfrm>
          <a:custGeom>
            <a:avLst/>
            <a:gdLst/>
            <a:ahLst/>
            <a:cxnLst/>
            <a:rect l="l" t="t" r="r" b="b"/>
            <a:pathLst>
              <a:path w="5853820" h="5619667">
                <a:moveTo>
                  <a:pt x="0" y="0"/>
                </a:moveTo>
                <a:lnTo>
                  <a:pt x="5853820" y="0"/>
                </a:lnTo>
                <a:lnTo>
                  <a:pt x="5853820" y="5619668"/>
                </a:lnTo>
                <a:lnTo>
                  <a:pt x="0" y="5619668"/>
                </a:lnTo>
                <a:lnTo>
                  <a:pt x="0" y="0"/>
                </a:lnTo>
                <a:close/>
              </a:path>
            </a:pathLst>
          </a:custGeom>
          <a:blipFill>
            <a:blip r:embed="rId4">
              <a:alphaModFix amt="18999"/>
              <a:extLst>
                <a:ext uri="{96DAC541-7B7A-43D3-8B79-37D633B846F1}">
                  <asvg:svgBlip xmlns:asvg="http://schemas.microsoft.com/office/drawing/2016/SVG/main" r:embed="rId5"/>
                </a:ext>
              </a:extLst>
            </a:blip>
            <a:stretch>
              <a:fillRect/>
            </a:stretch>
          </a:blipFill>
        </p:spPr>
        <p:txBody>
          <a:bodyPr/>
          <a:lstStyle/>
          <a:p>
            <a:endParaRPr lang="en-IN"/>
          </a:p>
        </p:txBody>
      </p:sp>
      <p:sp>
        <p:nvSpPr>
          <p:cNvPr id="8" name="TextBox 8"/>
          <p:cNvSpPr txBox="1"/>
          <p:nvPr/>
        </p:nvSpPr>
        <p:spPr>
          <a:xfrm>
            <a:off x="666372" y="3566927"/>
            <a:ext cx="15714140" cy="2799028"/>
          </a:xfrm>
          <a:prstGeom prst="rect">
            <a:avLst/>
          </a:prstGeom>
        </p:spPr>
        <p:txBody>
          <a:bodyPr lIns="0" tIns="0" rIns="0" bIns="0" rtlCol="0" anchor="t">
            <a:spAutoFit/>
          </a:bodyPr>
          <a:lstStyle/>
          <a:p>
            <a:pPr marL="497011" lvl="1" indent="-248505" algn="l">
              <a:lnSpc>
                <a:spcPts val="3222"/>
              </a:lnSpc>
              <a:buFont typeface="Arial"/>
              <a:buChar char="•"/>
            </a:pPr>
            <a:r>
              <a:rPr lang="en-US" sz="2302" spc="25" dirty="0">
                <a:solidFill>
                  <a:srgbClr val="512E1A"/>
                </a:solidFill>
                <a:latin typeface="Roboto"/>
                <a:ea typeface="Roboto"/>
                <a:cs typeface="Roboto"/>
                <a:sym typeface="Roboto"/>
              </a:rPr>
              <a:t>KL–LS model provided precise boundary refinement even for irregular lesions.</a:t>
            </a:r>
          </a:p>
          <a:p>
            <a:pPr marL="497011" lvl="1" indent="-248505" algn="l">
              <a:lnSpc>
                <a:spcPts val="3222"/>
              </a:lnSpc>
              <a:buFont typeface="Arial"/>
              <a:buChar char="•"/>
            </a:pPr>
            <a:r>
              <a:rPr lang="en-US" sz="2302" spc="25" dirty="0">
                <a:solidFill>
                  <a:srgbClr val="512E1A"/>
                </a:solidFill>
                <a:latin typeface="Roboto"/>
                <a:ea typeface="Roboto"/>
                <a:cs typeface="Roboto"/>
                <a:sym typeface="Roboto"/>
              </a:rPr>
              <a:t>Multi-domain features (</a:t>
            </a:r>
            <a:r>
              <a:rPr lang="en-US" sz="2302" b="1" spc="25" dirty="0">
                <a:solidFill>
                  <a:srgbClr val="512E1A"/>
                </a:solidFill>
                <a:latin typeface="Roboto Bold"/>
                <a:ea typeface="Roboto Bold"/>
                <a:cs typeface="Roboto Bold"/>
                <a:sym typeface="Roboto Bold"/>
              </a:rPr>
              <a:t>LBP, Laplacian contrast, distance transform, entropy, intensity ratio</a:t>
            </a:r>
            <a:r>
              <a:rPr lang="en-US" sz="2302" spc="25" dirty="0">
                <a:solidFill>
                  <a:srgbClr val="512E1A"/>
                </a:solidFill>
                <a:latin typeface="Roboto"/>
                <a:ea typeface="Roboto"/>
                <a:cs typeface="Roboto"/>
                <a:sym typeface="Roboto"/>
              </a:rPr>
              <a:t>) significantly improved discriminative power.</a:t>
            </a:r>
          </a:p>
          <a:p>
            <a:pPr marL="497011" lvl="1" indent="-248505" algn="l">
              <a:lnSpc>
                <a:spcPts val="3222"/>
              </a:lnSpc>
              <a:buFont typeface="Arial"/>
              <a:buChar char="•"/>
            </a:pPr>
            <a:r>
              <a:rPr lang="en-US" sz="2302" spc="25" dirty="0">
                <a:solidFill>
                  <a:srgbClr val="512E1A"/>
                </a:solidFill>
                <a:latin typeface="Roboto"/>
                <a:ea typeface="Roboto"/>
                <a:cs typeface="Roboto"/>
                <a:sym typeface="Roboto"/>
              </a:rPr>
              <a:t>Ensemble classifiers outperformed KNN and SVM by </a:t>
            </a:r>
            <a:r>
              <a:rPr lang="en-US" sz="2302" b="1" spc="25" dirty="0">
                <a:solidFill>
                  <a:srgbClr val="512E1A"/>
                </a:solidFill>
                <a:latin typeface="Roboto Bold"/>
                <a:ea typeface="Roboto Bold"/>
                <a:cs typeface="Roboto Bold"/>
                <a:sym typeface="Roboto Bold"/>
              </a:rPr>
              <a:t>~10–15%</a:t>
            </a:r>
            <a:r>
              <a:rPr lang="en-US" sz="2302" spc="25" dirty="0">
                <a:solidFill>
                  <a:srgbClr val="512E1A"/>
                </a:solidFill>
                <a:latin typeface="Roboto"/>
                <a:ea typeface="Roboto"/>
                <a:cs typeface="Roboto"/>
                <a:sym typeface="Roboto"/>
              </a:rPr>
              <a:t> in accuracy.</a:t>
            </a:r>
          </a:p>
          <a:p>
            <a:pPr marL="497011" lvl="1" indent="-248505" algn="l">
              <a:lnSpc>
                <a:spcPts val="3222"/>
              </a:lnSpc>
              <a:buFont typeface="Arial"/>
              <a:buChar char="•"/>
            </a:pPr>
            <a:r>
              <a:rPr lang="en-US" sz="2302" spc="25" dirty="0">
                <a:solidFill>
                  <a:srgbClr val="512E1A"/>
                </a:solidFill>
                <a:latin typeface="Roboto"/>
                <a:ea typeface="Roboto"/>
                <a:cs typeface="Roboto"/>
                <a:sym typeface="Roboto"/>
              </a:rPr>
              <a:t>PH2 dataset achieved the highest performance due to controlled acquisition conditions.</a:t>
            </a:r>
          </a:p>
          <a:p>
            <a:pPr marL="497011" lvl="1" indent="-248505" algn="l">
              <a:lnSpc>
                <a:spcPts val="3222"/>
              </a:lnSpc>
              <a:buFont typeface="Arial"/>
              <a:buChar char="•"/>
            </a:pPr>
            <a:r>
              <a:rPr lang="en-US" sz="2302" spc="25" dirty="0">
                <a:solidFill>
                  <a:srgbClr val="512E1A"/>
                </a:solidFill>
                <a:latin typeface="Roboto"/>
                <a:ea typeface="Roboto"/>
                <a:cs typeface="Roboto"/>
                <a:sym typeface="Roboto"/>
              </a:rPr>
              <a:t>ISIC results confirmed robust generalization across varied imaging environments</a:t>
            </a:r>
          </a:p>
          <a:p>
            <a:pPr algn="l">
              <a:lnSpc>
                <a:spcPts val="3222"/>
              </a:lnSpc>
            </a:pPr>
            <a:endParaRPr lang="en-US" sz="2302" spc="25" dirty="0">
              <a:solidFill>
                <a:srgbClr val="512E1A"/>
              </a:solidFill>
              <a:latin typeface="Roboto"/>
              <a:ea typeface="Roboto"/>
              <a:cs typeface="Roboto"/>
              <a:sym typeface="Roboto"/>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EF6F3"/>
        </a:solidFill>
        <a:effectLst/>
      </p:bgPr>
    </p:bg>
    <p:spTree>
      <p:nvGrpSpPr>
        <p:cNvPr id="1" name=""/>
        <p:cNvGrpSpPr/>
        <p:nvPr/>
      </p:nvGrpSpPr>
      <p:grpSpPr>
        <a:xfrm>
          <a:off x="0" y="0"/>
          <a:ext cx="0" cy="0"/>
          <a:chOff x="0" y="0"/>
          <a:chExt cx="0" cy="0"/>
        </a:xfrm>
      </p:grpSpPr>
      <p:sp>
        <p:nvSpPr>
          <p:cNvPr id="2" name="TextBox 2"/>
          <p:cNvSpPr txBox="1"/>
          <p:nvPr/>
        </p:nvSpPr>
        <p:spPr>
          <a:xfrm>
            <a:off x="666372" y="1143000"/>
            <a:ext cx="14004238" cy="664694"/>
          </a:xfrm>
          <a:prstGeom prst="rect">
            <a:avLst/>
          </a:prstGeom>
        </p:spPr>
        <p:txBody>
          <a:bodyPr lIns="0" tIns="0" rIns="0" bIns="0" rtlCol="0" anchor="t">
            <a:spAutoFit/>
          </a:bodyPr>
          <a:lstStyle/>
          <a:p>
            <a:pPr algn="just">
              <a:lnSpc>
                <a:spcPts val="4992"/>
              </a:lnSpc>
            </a:pPr>
            <a:r>
              <a:rPr lang="en-US" sz="5146">
                <a:solidFill>
                  <a:srgbClr val="D75443"/>
                </a:solidFill>
                <a:latin typeface="DM Sans"/>
                <a:ea typeface="DM Sans"/>
                <a:cs typeface="DM Sans"/>
                <a:sym typeface="DM Sans"/>
              </a:rPr>
              <a:t>CONCLUSION AND FUTURE ENHANCEMENTS</a:t>
            </a:r>
          </a:p>
        </p:txBody>
      </p:sp>
      <p:sp>
        <p:nvSpPr>
          <p:cNvPr id="3" name="Freeform 3"/>
          <p:cNvSpPr/>
          <p:nvPr/>
        </p:nvSpPr>
        <p:spPr>
          <a:xfrm>
            <a:off x="755830" y="6052647"/>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r:embed="rId2">
              <a:alphaModFix amt="12000"/>
              <a:extLst>
                <a:ext uri="{96DAC541-7B7A-43D3-8B79-37D633B846F1}">
                  <asvg:svgBlip xmlns:asvg="http://schemas.microsoft.com/office/drawing/2016/SVG/main" r:embed="rId3"/>
                </a:ext>
              </a:extLst>
            </a:blip>
            <a:stretch>
              <a:fillRect/>
            </a:stretch>
          </a:blipFill>
        </p:spPr>
        <p:txBody>
          <a:bodyPr/>
          <a:lstStyle/>
          <a:p>
            <a:endParaRPr lang="en-IN" dirty="0"/>
          </a:p>
        </p:txBody>
      </p:sp>
      <p:sp>
        <p:nvSpPr>
          <p:cNvPr id="5" name="Freeform 5"/>
          <p:cNvSpPr/>
          <p:nvPr/>
        </p:nvSpPr>
        <p:spPr>
          <a:xfrm>
            <a:off x="12613210" y="5617357"/>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r:embed="rId2">
              <a:alphaModFix amt="12000"/>
              <a:extLst>
                <a:ext uri="{96DAC541-7B7A-43D3-8B79-37D633B846F1}">
                  <asvg:svgBlip xmlns:asvg="http://schemas.microsoft.com/office/drawing/2016/SVG/main" r:embed="rId3"/>
                </a:ext>
              </a:extLst>
            </a:blip>
            <a:stretch>
              <a:fillRect/>
            </a:stretch>
          </a:blipFill>
        </p:spPr>
        <p:txBody>
          <a:bodyPr/>
          <a:lstStyle/>
          <a:p>
            <a:endParaRPr lang="en-IN"/>
          </a:p>
        </p:txBody>
      </p:sp>
      <p:sp>
        <p:nvSpPr>
          <p:cNvPr id="7" name="Freeform 7"/>
          <p:cNvSpPr/>
          <p:nvPr/>
        </p:nvSpPr>
        <p:spPr>
          <a:xfrm>
            <a:off x="12203476" y="-876300"/>
            <a:ext cx="5853820" cy="5619667"/>
          </a:xfrm>
          <a:custGeom>
            <a:avLst/>
            <a:gdLst/>
            <a:ahLst/>
            <a:cxnLst/>
            <a:rect l="l" t="t" r="r" b="b"/>
            <a:pathLst>
              <a:path w="5853820" h="5619667">
                <a:moveTo>
                  <a:pt x="0" y="0"/>
                </a:moveTo>
                <a:lnTo>
                  <a:pt x="5853820" y="0"/>
                </a:lnTo>
                <a:lnTo>
                  <a:pt x="5853820" y="5619668"/>
                </a:lnTo>
                <a:lnTo>
                  <a:pt x="0" y="5619668"/>
                </a:lnTo>
                <a:lnTo>
                  <a:pt x="0" y="0"/>
                </a:lnTo>
                <a:close/>
              </a:path>
            </a:pathLst>
          </a:custGeom>
          <a:blipFill>
            <a:blip r:embed="rId4">
              <a:alphaModFix amt="9999"/>
              <a:extLst>
                <a:ext uri="{96DAC541-7B7A-43D3-8B79-37D633B846F1}">
                  <asvg:svgBlip xmlns:asvg="http://schemas.microsoft.com/office/drawing/2016/SVG/main" r:embed="rId5"/>
                </a:ext>
              </a:extLst>
            </a:blip>
            <a:stretch>
              <a:fillRect/>
            </a:stretch>
          </a:blipFill>
        </p:spPr>
        <p:txBody>
          <a:bodyPr/>
          <a:lstStyle/>
          <a:p>
            <a:endParaRPr lang="en-IN"/>
          </a:p>
        </p:txBody>
      </p:sp>
      <p:sp>
        <p:nvSpPr>
          <p:cNvPr id="8" name="TextBox 8"/>
          <p:cNvSpPr txBox="1"/>
          <p:nvPr/>
        </p:nvSpPr>
        <p:spPr>
          <a:xfrm>
            <a:off x="748456" y="2176953"/>
            <a:ext cx="13840071" cy="1998928"/>
          </a:xfrm>
          <a:prstGeom prst="rect">
            <a:avLst/>
          </a:prstGeom>
        </p:spPr>
        <p:txBody>
          <a:bodyPr lIns="0" tIns="0" rIns="0" bIns="0" rtlCol="0" anchor="t">
            <a:spAutoFit/>
          </a:bodyPr>
          <a:lstStyle/>
          <a:p>
            <a:pPr algn="l">
              <a:lnSpc>
                <a:spcPts val="3222"/>
              </a:lnSpc>
            </a:pPr>
            <a:r>
              <a:rPr lang="en-US" sz="2302" b="1" spc="25">
                <a:solidFill>
                  <a:srgbClr val="512E1A"/>
                </a:solidFill>
                <a:latin typeface="Roboto Bold"/>
                <a:ea typeface="Roboto Bold"/>
                <a:cs typeface="Roboto Bold"/>
                <a:sym typeface="Roboto Bold"/>
              </a:rPr>
              <a:t>Conclusion:</a:t>
            </a:r>
          </a:p>
          <a:p>
            <a:pPr algn="just">
              <a:lnSpc>
                <a:spcPts val="3222"/>
              </a:lnSpc>
            </a:pPr>
            <a:endParaRPr lang="en-US" sz="2302" b="1" spc="25">
              <a:solidFill>
                <a:srgbClr val="512E1A"/>
              </a:solidFill>
              <a:latin typeface="Roboto Bold"/>
              <a:ea typeface="Roboto Bold"/>
              <a:cs typeface="Roboto Bold"/>
              <a:sym typeface="Roboto Bold"/>
            </a:endParaRPr>
          </a:p>
          <a:p>
            <a:pPr algn="just">
              <a:lnSpc>
                <a:spcPts val="3222"/>
              </a:lnSpc>
            </a:pPr>
            <a:r>
              <a:rPr lang="en-US" sz="2302" spc="25">
                <a:solidFill>
                  <a:srgbClr val="512E1A"/>
                </a:solidFill>
                <a:latin typeface="Roboto"/>
                <a:ea typeface="Roboto"/>
                <a:cs typeface="Roboto"/>
                <a:sym typeface="Roboto"/>
              </a:rPr>
              <a:t>The proposed active contour–based segmentation with ensemble classification achieved superior performance in lesion analysis. Integration of multi-domain features with Gradient Boosting and Extra Trees resulted in improved accuracy, stability, and interpretability compared to traditional methods.</a:t>
            </a:r>
          </a:p>
        </p:txBody>
      </p:sp>
      <p:sp>
        <p:nvSpPr>
          <p:cNvPr id="9" name="TextBox 9"/>
          <p:cNvSpPr txBox="1"/>
          <p:nvPr/>
        </p:nvSpPr>
        <p:spPr>
          <a:xfrm>
            <a:off x="810144" y="4875729"/>
            <a:ext cx="13840071" cy="2799028"/>
          </a:xfrm>
          <a:prstGeom prst="rect">
            <a:avLst/>
          </a:prstGeom>
        </p:spPr>
        <p:txBody>
          <a:bodyPr lIns="0" tIns="0" rIns="0" bIns="0" rtlCol="0" anchor="t">
            <a:spAutoFit/>
          </a:bodyPr>
          <a:lstStyle/>
          <a:p>
            <a:pPr algn="l">
              <a:lnSpc>
                <a:spcPts val="3222"/>
              </a:lnSpc>
            </a:pPr>
            <a:r>
              <a:rPr lang="en-US" sz="2302" b="1" spc="25">
                <a:solidFill>
                  <a:srgbClr val="512E1A"/>
                </a:solidFill>
                <a:latin typeface="Roboto Bold"/>
                <a:ea typeface="Roboto Bold"/>
                <a:cs typeface="Roboto Bold"/>
                <a:sym typeface="Roboto Bold"/>
              </a:rPr>
              <a:t>Future Enhancements:</a:t>
            </a:r>
          </a:p>
          <a:p>
            <a:pPr algn="l">
              <a:lnSpc>
                <a:spcPts val="3222"/>
              </a:lnSpc>
            </a:pPr>
            <a:endParaRPr lang="en-US" sz="2302" b="1" spc="25">
              <a:solidFill>
                <a:srgbClr val="512E1A"/>
              </a:solidFill>
              <a:latin typeface="Roboto Bold"/>
              <a:ea typeface="Roboto Bold"/>
              <a:cs typeface="Roboto Bold"/>
              <a:sym typeface="Roboto Bold"/>
            </a:endParaRPr>
          </a:p>
          <a:p>
            <a:pPr marL="497011" lvl="1" indent="-248505" algn="just">
              <a:lnSpc>
                <a:spcPts val="3222"/>
              </a:lnSpc>
              <a:buFont typeface="Arial"/>
              <a:buChar char="•"/>
            </a:pPr>
            <a:r>
              <a:rPr lang="en-US" sz="2302" spc="25">
                <a:solidFill>
                  <a:srgbClr val="512E1A"/>
                </a:solidFill>
                <a:latin typeface="Roboto"/>
                <a:ea typeface="Roboto"/>
                <a:cs typeface="Roboto"/>
                <a:sym typeface="Roboto"/>
              </a:rPr>
              <a:t>Incorporate deep </a:t>
            </a:r>
            <a:r>
              <a:rPr lang="en-US" sz="2302" b="1" spc="25">
                <a:solidFill>
                  <a:srgbClr val="512E1A"/>
                </a:solidFill>
                <a:latin typeface="Roboto Bold"/>
                <a:ea typeface="Roboto Bold"/>
                <a:cs typeface="Roboto Bold"/>
                <a:sym typeface="Roboto Bold"/>
              </a:rPr>
              <a:t>CNN-based feature fusion</a:t>
            </a:r>
            <a:r>
              <a:rPr lang="en-US" sz="2302" spc="25">
                <a:solidFill>
                  <a:srgbClr val="512E1A"/>
                </a:solidFill>
                <a:latin typeface="Roboto"/>
                <a:ea typeface="Roboto"/>
                <a:cs typeface="Roboto"/>
                <a:sym typeface="Roboto"/>
              </a:rPr>
              <a:t> with active contour initialization.</a:t>
            </a:r>
          </a:p>
          <a:p>
            <a:pPr marL="497011" lvl="1" indent="-248505" algn="just">
              <a:lnSpc>
                <a:spcPts val="3222"/>
              </a:lnSpc>
              <a:buFont typeface="Arial"/>
              <a:buChar char="•"/>
            </a:pPr>
            <a:r>
              <a:rPr lang="en-US" sz="2302" spc="25">
                <a:solidFill>
                  <a:srgbClr val="512E1A"/>
                </a:solidFill>
                <a:latin typeface="Roboto"/>
                <a:ea typeface="Roboto"/>
                <a:cs typeface="Roboto"/>
                <a:sym typeface="Roboto"/>
              </a:rPr>
              <a:t>Extend analysis to multi-class classification (benign, atypical, melanoma).</a:t>
            </a:r>
          </a:p>
          <a:p>
            <a:pPr marL="497011" lvl="1" indent="-248505" algn="just">
              <a:lnSpc>
                <a:spcPts val="3222"/>
              </a:lnSpc>
              <a:buFont typeface="Arial"/>
              <a:buChar char="•"/>
            </a:pPr>
            <a:r>
              <a:rPr lang="en-US" sz="2302" spc="25">
                <a:solidFill>
                  <a:srgbClr val="512E1A"/>
                </a:solidFill>
                <a:latin typeface="Roboto"/>
                <a:ea typeface="Roboto"/>
                <a:cs typeface="Roboto"/>
                <a:sym typeface="Roboto"/>
              </a:rPr>
              <a:t>Develop a real-time diagnostic application for clinical use.</a:t>
            </a:r>
          </a:p>
          <a:p>
            <a:pPr marL="497011" lvl="1" indent="-248505" algn="just">
              <a:lnSpc>
                <a:spcPts val="3222"/>
              </a:lnSpc>
              <a:buFont typeface="Arial"/>
              <a:buChar char="•"/>
            </a:pPr>
            <a:r>
              <a:rPr lang="en-US" sz="2302" spc="25">
                <a:solidFill>
                  <a:srgbClr val="512E1A"/>
                </a:solidFill>
                <a:latin typeface="Roboto"/>
                <a:ea typeface="Roboto"/>
                <a:cs typeface="Roboto"/>
                <a:sym typeface="Roboto"/>
              </a:rPr>
              <a:t>Explore explainable AI (XAI)-</a:t>
            </a:r>
            <a:r>
              <a:rPr lang="en-US" sz="2302" b="1" spc="25">
                <a:solidFill>
                  <a:srgbClr val="512E1A"/>
                </a:solidFill>
                <a:latin typeface="Roboto Bold"/>
                <a:ea typeface="Roboto Bold"/>
                <a:cs typeface="Roboto Bold"/>
                <a:sym typeface="Roboto Bold"/>
              </a:rPr>
              <a:t>SHAP or LIME</a:t>
            </a:r>
            <a:r>
              <a:rPr lang="en-US" sz="2302" spc="25">
                <a:solidFill>
                  <a:srgbClr val="512E1A"/>
                </a:solidFill>
                <a:latin typeface="Roboto"/>
                <a:ea typeface="Roboto"/>
                <a:cs typeface="Roboto"/>
                <a:sym typeface="Roboto"/>
              </a:rPr>
              <a:t> techniques for interpretability.</a:t>
            </a:r>
          </a:p>
          <a:p>
            <a:pPr algn="l">
              <a:lnSpc>
                <a:spcPts val="3222"/>
              </a:lnSpc>
            </a:pPr>
            <a:endParaRPr lang="en-US" sz="2302" spc="25">
              <a:solidFill>
                <a:srgbClr val="512E1A"/>
              </a:solidFill>
              <a:latin typeface="Roboto"/>
              <a:ea typeface="Roboto"/>
              <a:cs typeface="Roboto"/>
              <a:sym typeface="Roboto"/>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3402607" y="3723632"/>
            <a:ext cx="11482787" cy="2344052"/>
          </a:xfrm>
          <a:prstGeom prst="rect">
            <a:avLst/>
          </a:prstGeom>
        </p:spPr>
        <p:txBody>
          <a:bodyPr lIns="0" tIns="0" rIns="0" bIns="0" rtlCol="0" anchor="t">
            <a:spAutoFit/>
          </a:bodyPr>
          <a:lstStyle/>
          <a:p>
            <a:pPr algn="ctr">
              <a:lnSpc>
                <a:spcPts val="17426"/>
              </a:lnSpc>
            </a:pPr>
            <a:r>
              <a:rPr lang="en-US" sz="17965">
                <a:solidFill>
                  <a:srgbClr val="D75443"/>
                </a:solidFill>
                <a:latin typeface="DM Sans"/>
                <a:ea typeface="DM Sans"/>
                <a:cs typeface="DM Sans"/>
                <a:sym typeface="DM Sans"/>
              </a:rPr>
              <a:t>Thank You</a:t>
            </a:r>
          </a:p>
        </p:txBody>
      </p:sp>
      <p:sp>
        <p:nvSpPr>
          <p:cNvPr id="3" name="Freeform 3"/>
          <p:cNvSpPr/>
          <p:nvPr/>
        </p:nvSpPr>
        <p:spPr>
          <a:xfrm>
            <a:off x="13505476" y="-20611"/>
            <a:ext cx="5325035" cy="4114800"/>
          </a:xfrm>
          <a:custGeom>
            <a:avLst/>
            <a:gdLst/>
            <a:ahLst/>
            <a:cxnLst/>
            <a:rect l="l" t="t" r="r" b="b"/>
            <a:pathLst>
              <a:path w="5325035" h="4114800">
                <a:moveTo>
                  <a:pt x="0" y="0"/>
                </a:moveTo>
                <a:lnTo>
                  <a:pt x="5325036" y="0"/>
                </a:lnTo>
                <a:lnTo>
                  <a:pt x="5325036" y="4114800"/>
                </a:lnTo>
                <a:lnTo>
                  <a:pt x="0" y="4114800"/>
                </a:lnTo>
                <a:lnTo>
                  <a:pt x="0" y="0"/>
                </a:lnTo>
                <a:close/>
              </a:path>
            </a:pathLst>
          </a:custGeom>
          <a:blipFill>
            <a:blip r:embed="rId2">
              <a:alphaModFix amt="13000"/>
              <a:extLst>
                <a:ext uri="{96DAC541-7B7A-43D3-8B79-37D633B846F1}">
                  <asvg:svgBlip xmlns:asvg="http://schemas.microsoft.com/office/drawing/2016/SVG/main" r:embed="rId3"/>
                </a:ext>
              </a:extLst>
            </a:blip>
            <a:stretch>
              <a:fillRect/>
            </a:stretch>
          </a:blipFill>
        </p:spPr>
        <p:txBody>
          <a:bodyPr/>
          <a:lstStyle/>
          <a:p>
            <a:endParaRPr lang="en-IN"/>
          </a:p>
        </p:txBody>
      </p:sp>
      <p:sp>
        <p:nvSpPr>
          <p:cNvPr id="5" name="Freeform 5"/>
          <p:cNvSpPr/>
          <p:nvPr/>
        </p:nvSpPr>
        <p:spPr>
          <a:xfrm flipH="1">
            <a:off x="-381000" y="-584132"/>
            <a:ext cx="6723203" cy="6937639"/>
          </a:xfrm>
          <a:custGeom>
            <a:avLst/>
            <a:gdLst/>
            <a:ahLst/>
            <a:cxnLst/>
            <a:rect l="l" t="t" r="r" b="b"/>
            <a:pathLst>
              <a:path w="6723203" h="6937639">
                <a:moveTo>
                  <a:pt x="6723203" y="0"/>
                </a:moveTo>
                <a:lnTo>
                  <a:pt x="0" y="0"/>
                </a:lnTo>
                <a:lnTo>
                  <a:pt x="0" y="6937640"/>
                </a:lnTo>
                <a:lnTo>
                  <a:pt x="6723203" y="6937640"/>
                </a:lnTo>
                <a:lnTo>
                  <a:pt x="6723203" y="0"/>
                </a:lnTo>
                <a:close/>
              </a:path>
            </a:pathLst>
          </a:custGeom>
          <a:blipFill>
            <a:blip r:embed="rId4">
              <a:alphaModFix amt="12000"/>
              <a:extLst>
                <a:ext uri="{96DAC541-7B7A-43D3-8B79-37D633B846F1}">
                  <asvg:svgBlip xmlns:asvg="http://schemas.microsoft.com/office/drawing/2016/SVG/main" r:embed="rId5"/>
                </a:ext>
              </a:extLst>
            </a:blip>
            <a:stretch>
              <a:fillRect/>
            </a:stretch>
          </a:blipFill>
        </p:spPr>
        <p:txBody>
          <a:bodyPr/>
          <a:lstStyle/>
          <a:p>
            <a:endParaRPr lang="en-IN"/>
          </a:p>
        </p:txBody>
      </p:sp>
      <p:sp>
        <p:nvSpPr>
          <p:cNvPr id="6" name="Freeform 6"/>
          <p:cNvSpPr/>
          <p:nvPr/>
        </p:nvSpPr>
        <p:spPr>
          <a:xfrm>
            <a:off x="-138043" y="5361151"/>
            <a:ext cx="5865218" cy="5694594"/>
          </a:xfrm>
          <a:custGeom>
            <a:avLst/>
            <a:gdLst/>
            <a:ahLst/>
            <a:cxnLst/>
            <a:rect l="l" t="t" r="r" b="b"/>
            <a:pathLst>
              <a:path w="5865218" h="5694594">
                <a:moveTo>
                  <a:pt x="0" y="0"/>
                </a:moveTo>
                <a:lnTo>
                  <a:pt x="5865218" y="0"/>
                </a:lnTo>
                <a:lnTo>
                  <a:pt x="5865218" y="5694594"/>
                </a:lnTo>
                <a:lnTo>
                  <a:pt x="0" y="5694594"/>
                </a:lnTo>
                <a:lnTo>
                  <a:pt x="0" y="0"/>
                </a:lnTo>
                <a:close/>
              </a:path>
            </a:pathLst>
          </a:custGeom>
          <a:blipFill>
            <a:blip r:embed="rId6">
              <a:alphaModFix amt="13000"/>
              <a:extLst>
                <a:ext uri="{96DAC541-7B7A-43D3-8B79-37D633B846F1}">
                  <asvg:svgBlip xmlns:asvg="http://schemas.microsoft.com/office/drawing/2016/SVG/main" r:embed="rId7"/>
                </a:ext>
              </a:extLst>
            </a:blip>
            <a:stretch>
              <a:fillRect/>
            </a:stretch>
          </a:blipFill>
        </p:spPr>
        <p:txBody>
          <a:bodyPr/>
          <a:lstStyle/>
          <a:p>
            <a:endParaRPr lang="en-IN"/>
          </a:p>
        </p:txBody>
      </p:sp>
      <p:sp>
        <p:nvSpPr>
          <p:cNvPr id="7" name="Freeform 7"/>
          <p:cNvSpPr/>
          <p:nvPr/>
        </p:nvSpPr>
        <p:spPr>
          <a:xfrm>
            <a:off x="5857496" y="5924358"/>
            <a:ext cx="5401289" cy="4114800"/>
          </a:xfrm>
          <a:custGeom>
            <a:avLst/>
            <a:gdLst/>
            <a:ahLst/>
            <a:cxnLst/>
            <a:rect l="l" t="t" r="r" b="b"/>
            <a:pathLst>
              <a:path w="5401289" h="4114800">
                <a:moveTo>
                  <a:pt x="0" y="0"/>
                </a:moveTo>
                <a:lnTo>
                  <a:pt x="5401289" y="0"/>
                </a:lnTo>
                <a:lnTo>
                  <a:pt x="5401289" y="4114800"/>
                </a:lnTo>
                <a:lnTo>
                  <a:pt x="0" y="4114800"/>
                </a:lnTo>
                <a:lnTo>
                  <a:pt x="0" y="0"/>
                </a:lnTo>
                <a:close/>
              </a:path>
            </a:pathLst>
          </a:custGeom>
          <a:blipFill>
            <a:blip r:embed="rId8">
              <a:alphaModFix amt="12000"/>
              <a:extLst>
                <a:ext uri="{96DAC541-7B7A-43D3-8B79-37D633B846F1}">
                  <asvg:svgBlip xmlns:asvg="http://schemas.microsoft.com/office/drawing/2016/SVG/main" r:embed="rId9"/>
                </a:ext>
              </a:extLst>
            </a:blip>
            <a:stretch>
              <a:fillRect/>
            </a:stretch>
          </a:blipFill>
        </p:spPr>
        <p:txBody>
          <a:bodyPr/>
          <a:lstStyle/>
          <a:p>
            <a:endParaRPr lang="en-IN"/>
          </a:p>
        </p:txBody>
      </p:sp>
      <p:sp>
        <p:nvSpPr>
          <p:cNvPr id="8" name="Freeform 8"/>
          <p:cNvSpPr/>
          <p:nvPr/>
        </p:nvSpPr>
        <p:spPr>
          <a:xfrm>
            <a:off x="6225253" y="-331473"/>
            <a:ext cx="7315200" cy="4083212"/>
          </a:xfrm>
          <a:custGeom>
            <a:avLst/>
            <a:gdLst/>
            <a:ahLst/>
            <a:cxnLst/>
            <a:rect l="l" t="t" r="r" b="b"/>
            <a:pathLst>
              <a:path w="7315200" h="4083212">
                <a:moveTo>
                  <a:pt x="0" y="0"/>
                </a:moveTo>
                <a:lnTo>
                  <a:pt x="7315200" y="0"/>
                </a:lnTo>
                <a:lnTo>
                  <a:pt x="7315200" y="4083212"/>
                </a:lnTo>
                <a:lnTo>
                  <a:pt x="0" y="4083212"/>
                </a:lnTo>
                <a:lnTo>
                  <a:pt x="0" y="0"/>
                </a:lnTo>
                <a:close/>
              </a:path>
            </a:pathLst>
          </a:custGeom>
          <a:blipFill>
            <a:blip r:embed="rId10">
              <a:alphaModFix amt="7999"/>
              <a:extLst>
                <a:ext uri="{96DAC541-7B7A-43D3-8B79-37D633B846F1}">
                  <asvg:svgBlip xmlns:asvg="http://schemas.microsoft.com/office/drawing/2016/SVG/main" r:embed="rId11"/>
                </a:ext>
              </a:extLst>
            </a:blip>
            <a:stretch>
              <a:fillRect/>
            </a:stretch>
          </a:blipFill>
        </p:spPr>
        <p:txBody>
          <a:bodyPr/>
          <a:lstStyle/>
          <a:p>
            <a:endParaRPr lang="en-IN"/>
          </a:p>
        </p:txBody>
      </p:sp>
      <p:sp>
        <p:nvSpPr>
          <p:cNvPr id="9" name="Freeform 9"/>
          <p:cNvSpPr/>
          <p:nvPr/>
        </p:nvSpPr>
        <p:spPr>
          <a:xfrm>
            <a:off x="11258785" y="5781032"/>
            <a:ext cx="7161835" cy="4114800"/>
          </a:xfrm>
          <a:custGeom>
            <a:avLst/>
            <a:gdLst/>
            <a:ahLst/>
            <a:cxnLst/>
            <a:rect l="l" t="t" r="r" b="b"/>
            <a:pathLst>
              <a:path w="7161835" h="4114800">
                <a:moveTo>
                  <a:pt x="0" y="0"/>
                </a:moveTo>
                <a:lnTo>
                  <a:pt x="7161836" y="0"/>
                </a:lnTo>
                <a:lnTo>
                  <a:pt x="7161836" y="4114800"/>
                </a:lnTo>
                <a:lnTo>
                  <a:pt x="0" y="4114800"/>
                </a:lnTo>
                <a:lnTo>
                  <a:pt x="0" y="0"/>
                </a:lnTo>
                <a:close/>
              </a:path>
            </a:pathLst>
          </a:custGeom>
          <a:blipFill>
            <a:blip r:embed="rId12">
              <a:alphaModFix amt="18999"/>
              <a:extLst>
                <a:ext uri="{96DAC541-7B7A-43D3-8B79-37D633B846F1}">
                  <asvg:svgBlip xmlns:asvg="http://schemas.microsoft.com/office/drawing/2016/SVG/main" r:embed="rId13"/>
                </a:ext>
              </a:extLst>
            </a:blip>
            <a:stretch>
              <a:fillRect/>
            </a:stretch>
          </a:blipFill>
        </p:spPr>
        <p:txBody>
          <a:bodyPr/>
          <a:lstStyle/>
          <a:p>
            <a:endParaRPr lang="en-IN"/>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FFFFFF"/>
      </a:dk1>
      <a:lt1>
        <a:sysClr val="window" lastClr="2D3236"/>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28</TotalTime>
  <Words>694</Words>
  <Application>Microsoft Office PowerPoint</Application>
  <PresentationFormat>Custom</PresentationFormat>
  <Paragraphs>70</Paragraphs>
  <Slides>9</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9</vt:i4>
      </vt:variant>
    </vt:vector>
  </HeadingPairs>
  <TitlesOfParts>
    <vt:vector size="16" baseType="lpstr">
      <vt:lpstr>Roboto Bold</vt:lpstr>
      <vt:lpstr>Arial</vt:lpstr>
      <vt:lpstr>DM Sans Bold</vt:lpstr>
      <vt:lpstr>Roboto</vt:lpstr>
      <vt:lpstr>DM Sans</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Pink White Playful Epidermis Anatomy Group Project Presenta</dc:title>
  <cp:lastModifiedBy>Hemila S</cp:lastModifiedBy>
  <cp:revision>5</cp:revision>
  <dcterms:created xsi:type="dcterms:W3CDTF">2006-08-16T00:00:00Z</dcterms:created>
  <dcterms:modified xsi:type="dcterms:W3CDTF">2025-11-13T16:20:30Z</dcterms:modified>
  <dc:identifier>DAG4krosQNc</dc:identifier>
</cp:coreProperties>
</file>